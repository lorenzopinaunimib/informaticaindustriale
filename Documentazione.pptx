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10">
  <p:sldMasterIdLst>
    <p:sldMasterId id="2147483688" r:id="rId4"/>
  </p:sldMasterIdLst>
  <p:notesMasterIdLst>
    <p:notesMasterId r:id="rId24"/>
  </p:notesMasterIdLst>
  <p:handoutMasterIdLst>
    <p:handoutMasterId r:id="rId25"/>
  </p:handoutMasterIdLst>
  <p:sldIdLst>
    <p:sldId id="898" r:id="rId5"/>
    <p:sldId id="1159" r:id="rId6"/>
    <p:sldId id="1129" r:id="rId7"/>
    <p:sldId id="1160" r:id="rId8"/>
    <p:sldId id="1161" r:id="rId9"/>
    <p:sldId id="1162" r:id="rId10"/>
    <p:sldId id="1163" r:id="rId11"/>
    <p:sldId id="1164" r:id="rId12"/>
    <p:sldId id="1165" r:id="rId13"/>
    <p:sldId id="1176" r:id="rId14"/>
    <p:sldId id="1167" r:id="rId15"/>
    <p:sldId id="1166" r:id="rId16"/>
    <p:sldId id="1168" r:id="rId17"/>
    <p:sldId id="1171" r:id="rId18"/>
    <p:sldId id="1172" r:id="rId19"/>
    <p:sldId id="1173" r:id="rId20"/>
    <p:sldId id="1169" r:id="rId21"/>
    <p:sldId id="1177" r:id="rId22"/>
    <p:sldId id="1174" r:id="rId23"/>
  </p:sldIdLst>
  <p:sldSz cx="12192000" cy="6858000"/>
  <p:notesSz cx="6946900" cy="10058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6BD7EC1F-427B-4DC3-A8E8-F45B5A8302B2}">
          <p14:sldIdLst>
            <p14:sldId id="898"/>
            <p14:sldId id="1159"/>
            <p14:sldId id="1129"/>
            <p14:sldId id="1160"/>
            <p14:sldId id="1161"/>
            <p14:sldId id="1162"/>
            <p14:sldId id="1163"/>
            <p14:sldId id="1164"/>
            <p14:sldId id="1165"/>
            <p14:sldId id="1176"/>
            <p14:sldId id="1167"/>
            <p14:sldId id="1166"/>
            <p14:sldId id="1168"/>
            <p14:sldId id="1171"/>
            <p14:sldId id="1172"/>
            <p14:sldId id="1173"/>
            <p14:sldId id="1169"/>
            <p14:sldId id="1177"/>
            <p14:sldId id="11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71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69">
          <p15:clr>
            <a:srgbClr val="A4A3A4"/>
          </p15:clr>
        </p15:guide>
        <p15:guide id="2" pos="218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chen Li" initials="XL" lastIdx="9" clrIdx="0">
    <p:extLst>
      <p:ext uri="{19B8F6BF-5375-455C-9EA6-DF929625EA0E}">
        <p15:presenceInfo xmlns:p15="http://schemas.microsoft.com/office/powerpoint/2012/main" userId="45f28ff92f64b98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3399"/>
    <a:srgbClr val="FFCCFF"/>
    <a:srgbClr val="00FF00"/>
    <a:srgbClr val="FFFF66"/>
    <a:srgbClr val="00FFFF"/>
    <a:srgbClr val="FF0066"/>
    <a:srgbClr val="0066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759" autoAdjust="0"/>
  </p:normalViewPr>
  <p:slideViewPr>
    <p:cSldViewPr snapToObjects="1">
      <p:cViewPr varScale="1">
        <p:scale>
          <a:sx n="135" d="100"/>
          <a:sy n="135" d="100"/>
        </p:scale>
        <p:origin x="512" y="184"/>
      </p:cViewPr>
      <p:guideLst>
        <p:guide orient="horz" pos="686"/>
        <p:guide pos="7167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4086" y="54"/>
      </p:cViewPr>
      <p:guideLst>
        <p:guide orient="horz" pos="3169"/>
        <p:guide pos="2187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t" anchorCtr="0" compatLnSpc="1">
            <a:prstTxWarp prst="textNoShape">
              <a:avLst/>
            </a:prstTxWarp>
          </a:bodyPr>
          <a:lstStyle>
            <a:lvl1pPr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Times New Roman" pitchFamily="18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t" anchorCtr="0" compatLnSpc="1">
            <a:prstTxWarp prst="textNoShape">
              <a:avLst/>
            </a:prstTxWarp>
          </a:bodyPr>
          <a:lstStyle>
            <a:lvl1pPr algn="r"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Times New Roman" pitchFamily="18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55163"/>
            <a:ext cx="300990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b" anchorCtr="0" compatLnSpc="1">
            <a:prstTxWarp prst="textNoShape">
              <a:avLst/>
            </a:prstTxWarp>
          </a:bodyPr>
          <a:lstStyle>
            <a:lvl1pPr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Times New Roman" pitchFamily="18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9555163"/>
            <a:ext cx="300990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b" anchorCtr="0" compatLnSpc="1">
            <a:prstTxWarp prst="textNoShape">
              <a:avLst/>
            </a:prstTxWarp>
          </a:bodyPr>
          <a:lstStyle>
            <a:lvl1pPr algn="r" defTabSz="946150">
              <a:defRPr kumimoji="1" sz="1200">
                <a:latin typeface="Times New Roman" panose="02020603050405020304" pitchFamily="18" charset="0"/>
              </a:defRPr>
            </a:lvl1pPr>
          </a:lstStyle>
          <a:p>
            <a:fld id="{D95DEC9B-2CEC-4405-ADE4-D0456C051506}" type="slidenum">
              <a:rPr lang="en-US" altLang="ja-JP"/>
              <a:pPr/>
              <a:t>‹N›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17670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08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t" anchorCtr="0" compatLnSpc="1">
            <a:prstTxWarp prst="textNoShape">
              <a:avLst/>
            </a:prstTxWarp>
          </a:bodyPr>
          <a:lstStyle>
            <a:lvl1pPr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Arial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2238" y="0"/>
            <a:ext cx="2989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t" anchorCtr="0" compatLnSpc="1">
            <a:prstTxWarp prst="textNoShape">
              <a:avLst/>
            </a:prstTxWarp>
          </a:bodyPr>
          <a:lstStyle>
            <a:lvl1pPr algn="r"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Arial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9300" y="177800"/>
            <a:ext cx="5446713" cy="3063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61925" y="3351213"/>
            <a:ext cx="6623050" cy="609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ja-JP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44050"/>
            <a:ext cx="299085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b" anchorCtr="0" compatLnSpc="1">
            <a:prstTxWarp prst="textNoShape">
              <a:avLst/>
            </a:prstTxWarp>
          </a:bodyPr>
          <a:lstStyle>
            <a:lvl1pPr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Arial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2238" y="9544050"/>
            <a:ext cx="2989262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b" anchorCtr="0" compatLnSpc="1">
            <a:prstTxWarp prst="textNoShape">
              <a:avLst/>
            </a:prstTxWarp>
          </a:bodyPr>
          <a:lstStyle>
            <a:lvl1pPr algn="r" defTabSz="946150">
              <a:defRPr kumimoji="1" sz="1200">
                <a:latin typeface="Arial" panose="020B0604020202020204" pitchFamily="34" charset="0"/>
              </a:defRPr>
            </a:lvl1pPr>
          </a:lstStyle>
          <a:p>
            <a:fld id="{D6B6717F-986F-4A3F-9037-B1B1D8AD583E}" type="slidenum">
              <a:rPr lang="en-US" altLang="ja-JP"/>
              <a:pPr/>
              <a:t>‹N›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744385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600" b="1" kern="1200">
        <a:solidFill>
          <a:schemeClr val="tx1"/>
        </a:solidFill>
        <a:latin typeface="Arial" charset="0"/>
        <a:ea typeface="HG丸ｺﾞｼｯｸM-PRO" pitchFamily="50" charset="-128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B6717F-986F-4A3F-9037-B1B1D8AD583E}" type="slidenum">
              <a:rPr lang="en-US" altLang="ja-JP" smtClean="0"/>
              <a:pPr/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72870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3339557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CA" sz="2000"/>
          </a:p>
        </p:txBody>
      </p:sp>
      <p:sp>
        <p:nvSpPr>
          <p:cNvPr id="13649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649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2635766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9558538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5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6AEE32-87CF-4B18-ACD9-DC92317905A5}" type="slidenum">
              <a:rPr lang="en-US" altLang="en-US" smtClean="0"/>
              <a:pPr/>
              <a:t>‹N›</a:t>
            </a:fld>
            <a:endParaRPr lang="en-US" altLang="en-US" dirty="0"/>
          </a:p>
        </p:txBody>
      </p:sp>
      <p:sp>
        <p:nvSpPr>
          <p:cNvPr id="6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400" b="1"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4" name="Picture 3" descr="A picture containing art, graphics, line, triangle&#10;&#10;Description automatically generated">
            <a:extLst>
              <a:ext uri="{FF2B5EF4-FFF2-40B4-BE49-F238E27FC236}">
                <a16:creationId xmlns:a16="http://schemas.microsoft.com/office/drawing/2014/main" id="{80FB6A95-E479-121B-BCF2-A197FB93F1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3" y="5943788"/>
            <a:ext cx="766647" cy="8269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F60219-CCBB-558E-09C1-CD961B584888}"/>
              </a:ext>
            </a:extLst>
          </p:cNvPr>
          <p:cNvSpPr txBox="1"/>
          <p:nvPr userDrawn="1"/>
        </p:nvSpPr>
        <p:spPr>
          <a:xfrm>
            <a:off x="755651" y="6354325"/>
            <a:ext cx="25520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INFORMATICA INDUSTRIALE</a:t>
            </a:r>
          </a:p>
          <a:p>
            <a:pPr algn="ctr">
              <a:defRPr/>
            </a:pPr>
            <a:r>
              <a:rPr lang="en-US" sz="1200" b="1" dirty="0">
                <a:solidFill>
                  <a:srgbClr val="0000FF"/>
                </a:solidFill>
                <a:latin typeface="Comic Sans MS" panose="030F0702030302020204" pitchFamily="66" charset="0"/>
              </a:rPr>
              <a:t>email@unimib.it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8339A5-0ED6-D609-7369-31F0EB80C236}"/>
              </a:ext>
            </a:extLst>
          </p:cNvPr>
          <p:cNvSpPr txBox="1"/>
          <p:nvPr userDrawn="1"/>
        </p:nvSpPr>
        <p:spPr>
          <a:xfrm>
            <a:off x="5465930" y="6354325"/>
            <a:ext cx="6094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en-US" sz="2000" b="1" dirty="0">
                <a:solidFill>
                  <a:srgbClr val="00B050"/>
                </a:solidFill>
                <a:latin typeface="Comic Sans MS" panose="030F0702030302020204" pitchFamily="66" charset="0"/>
              </a:rPr>
              <a:t>FPGA Design – Digital </a:t>
            </a:r>
            <a:r>
              <a:rPr lang="it-IT" altLang="en-US" sz="2000" b="1" dirty="0" err="1">
                <a:solidFill>
                  <a:srgbClr val="00B050"/>
                </a:solidFill>
                <a:latin typeface="Comic Sans MS" panose="030F0702030302020204" pitchFamily="66" charset="0"/>
              </a:rPr>
              <a:t>Signals</a:t>
            </a:r>
            <a:endParaRPr lang="en-GB" altLang="en-US" sz="2000" b="1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28223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0875EF-C2EB-41B9-9120-4F34CB1DDB5F}" type="slidenum">
              <a:rPr lang="en-US" altLang="en-US" smtClean="0"/>
              <a:pPr/>
              <a:t>‹N›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0070320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333500"/>
            <a:ext cx="5232400" cy="4686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333500"/>
            <a:ext cx="5232400" cy="4686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Author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70ECB4-3ED6-47B4-92E1-16EDC40A6A2B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4003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800" y="223200"/>
            <a:ext cx="7970400" cy="720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32AD43-E5B6-4C0C-B28F-4F3BDC35F92C}" type="slidenum">
              <a:rPr lang="en-US" altLang="en-US" smtClean="0"/>
              <a:pPr/>
              <a:t>‹N›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0586158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222381"/>
            <a:ext cx="7971367" cy="720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333500"/>
            <a:ext cx="10668000" cy="4306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989013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CA" sz="20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30932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 sz="2000"/>
          </a:p>
        </p:txBody>
      </p:sp>
      <p:sp>
        <p:nvSpPr>
          <p:cNvPr id="136397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373130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Author</a:t>
            </a:r>
          </a:p>
        </p:txBody>
      </p:sp>
      <p:sp>
        <p:nvSpPr>
          <p:cNvPr id="13639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73130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6397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73130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669A0AA-7294-4E49-A360-EB85DE381848}" type="slidenum">
              <a:rPr lang="en-US" altLang="en-US"/>
              <a:pPr/>
              <a:t>‹N›</a:t>
            </a:fld>
            <a:r>
              <a:rPr lang="en-US" altLang="en-US" dirty="0"/>
              <a:t> of 70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6" r:id="rId1"/>
    <p:sldLayoutId id="2147484087" r:id="rId2"/>
    <p:sldLayoutId id="2147484079" r:id="rId3"/>
    <p:sldLayoutId id="2147484088" r:id="rId4"/>
    <p:sldLayoutId id="2147484080" r:id="rId5"/>
  </p:sldLayoutIdLst>
  <p:transition/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C030536-D6A3-FCE3-120C-737C11614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99" y="1583795"/>
            <a:ext cx="10537195" cy="1371600"/>
          </a:xfrm>
        </p:spPr>
        <p:txBody>
          <a:bodyPr/>
          <a:lstStyle/>
          <a:p>
            <a:br>
              <a:rPr lang="en-GB" altLang="en-US" sz="2400" b="1" dirty="0"/>
            </a:br>
            <a:r>
              <a:rPr lang="en-GB" altLang="en-US" sz="2400" b="1" dirty="0"/>
              <a:t>Lorenzo Pina 894396, Simone Rancati 900052</a:t>
            </a:r>
            <a:endParaRPr lang="en-GB" altLang="en-US" sz="2400" dirty="0"/>
          </a:p>
        </p:txBody>
      </p:sp>
      <p:pic>
        <p:nvPicPr>
          <p:cNvPr id="9" name="Picture 8" descr="A picture containing art, graphics, line, triangle&#10;&#10;Description automatically generated">
            <a:extLst>
              <a:ext uri="{FF2B5EF4-FFF2-40B4-BE49-F238E27FC236}">
                <a16:creationId xmlns:a16="http://schemas.microsoft.com/office/drawing/2014/main" id="{248F0F6B-6FF7-0BDC-4633-8BF6DF0E1A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470" y="4914165"/>
            <a:ext cx="1440160" cy="1553377"/>
          </a:xfrm>
          <a:prstGeom prst="rect">
            <a:avLst/>
          </a:prstGeom>
        </p:spPr>
      </p:pic>
      <p:sp>
        <p:nvSpPr>
          <p:cNvPr id="3" name="Subtitle 7">
            <a:extLst>
              <a:ext uri="{FF2B5EF4-FFF2-40B4-BE49-F238E27FC236}">
                <a16:creationId xmlns:a16="http://schemas.microsoft.com/office/drawing/2014/main" id="{4501EFC6-D762-8243-D017-B6D989F073E7}"/>
              </a:ext>
            </a:extLst>
          </p:cNvPr>
          <p:cNvSpPr txBox="1">
            <a:spLocks/>
          </p:cNvSpPr>
          <p:nvPr/>
        </p:nvSpPr>
        <p:spPr bwMode="auto">
          <a:xfrm>
            <a:off x="920426" y="2901533"/>
            <a:ext cx="10891209" cy="406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altLang="en-US" sz="2000" kern="0" dirty="0"/>
              <a:t>Informatica Industriale</a:t>
            </a:r>
            <a:endParaRPr lang="en-US" sz="2600" kern="0" dirty="0"/>
          </a:p>
        </p:txBody>
      </p:sp>
      <p:pic>
        <p:nvPicPr>
          <p:cNvPr id="4" name="Picture 3" descr="A logo with a gold and blue text&#10;&#10;Description automatically generated with medium confidence">
            <a:extLst>
              <a:ext uri="{FF2B5EF4-FFF2-40B4-BE49-F238E27FC236}">
                <a16:creationId xmlns:a16="http://schemas.microsoft.com/office/drawing/2014/main" id="{140A5226-4D66-DB39-6D5D-E593DD2B67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197" y="5010689"/>
            <a:ext cx="2017820" cy="1360328"/>
          </a:xfrm>
          <a:prstGeom prst="rect">
            <a:avLst/>
          </a:prstGeom>
        </p:spPr>
      </p:pic>
      <p:sp>
        <p:nvSpPr>
          <p:cNvPr id="5" name="Subtitle 7">
            <a:extLst>
              <a:ext uri="{FF2B5EF4-FFF2-40B4-BE49-F238E27FC236}">
                <a16:creationId xmlns:a16="http://schemas.microsoft.com/office/drawing/2014/main" id="{7FEB1B2F-A930-2425-989C-37A3A776ED3F}"/>
              </a:ext>
            </a:extLst>
          </p:cNvPr>
          <p:cNvSpPr txBox="1">
            <a:spLocks/>
          </p:cNvSpPr>
          <p:nvPr/>
        </p:nvSpPr>
        <p:spPr bwMode="auto">
          <a:xfrm>
            <a:off x="920426" y="5010689"/>
            <a:ext cx="10891209" cy="398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1500" b="1" dirty="0">
                <a:solidFill>
                  <a:srgbClr val="0000FF"/>
                </a:solidFill>
                <a:latin typeface="NimbusRomNo9L-Regu"/>
              </a:rPr>
              <a:t>l.pina4@campus.unimib.it, s.rancati8@campus.unimib.it</a:t>
            </a:r>
          </a:p>
          <a:p>
            <a:r>
              <a:rPr lang="it-IT" sz="1500" b="1" dirty="0">
                <a:solidFill>
                  <a:srgbClr val="0000FF"/>
                </a:solidFill>
                <a:latin typeface="NimbusRomNo9L-Regu"/>
              </a:rPr>
              <a:t>https://github.com/LorenzoPinaUnimib/InformaticaIndustriale</a:t>
            </a:r>
            <a:endParaRPr lang="it-IT" sz="1500" b="1" i="0" u="none" strike="noStrike" baseline="0" dirty="0">
              <a:solidFill>
                <a:srgbClr val="0000FF"/>
              </a:solidFill>
              <a:latin typeface="NimbusRomNo9L-Regu"/>
            </a:endParaRPr>
          </a:p>
          <a:p>
            <a:pPr algn="ctr"/>
            <a:endParaRPr lang="it-IT" sz="1500" b="0" i="0" u="none" strike="noStrike" baseline="0" dirty="0">
              <a:latin typeface="NimbusRomNo9L-Regu"/>
            </a:endParaRPr>
          </a:p>
          <a:p>
            <a:r>
              <a:rPr lang="it-IT" sz="1500" b="0" i="0" u="none" strike="noStrike" baseline="0" dirty="0" err="1">
                <a:latin typeface="NimbusRomNo9L-Regu"/>
              </a:rPr>
              <a:t>Microelectronics</a:t>
            </a:r>
            <a:r>
              <a:rPr lang="it-IT" sz="1500" b="0" i="0" u="none" strike="noStrike" baseline="0" dirty="0">
                <a:latin typeface="NimbusRomNo9L-Regu"/>
              </a:rPr>
              <a:t> Group</a:t>
            </a:r>
            <a:br>
              <a:rPr lang="pl-PL" altLang="en-US" sz="1500" kern="0" dirty="0"/>
            </a:br>
            <a:endParaRPr lang="en-US" sz="1500" kern="0" dirty="0"/>
          </a:p>
        </p:txBody>
      </p:sp>
      <p:pic>
        <p:nvPicPr>
          <p:cNvPr id="6" name="Picture 5" descr="A blue circuit board with black background&#10;&#10;AI-generated content may be incorrect.">
            <a:extLst>
              <a:ext uri="{FF2B5EF4-FFF2-40B4-BE49-F238E27FC236}">
                <a16:creationId xmlns:a16="http://schemas.microsoft.com/office/drawing/2014/main" id="{1CFD4DE1-0AC0-CE25-563B-C4BB22276B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625" y="64349"/>
            <a:ext cx="3975037" cy="397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799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A23FF97-18AA-652C-ABE4-4249A1BC7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F8E3B-8185-A5AA-39EC-BBEC33D79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410" y="222381"/>
            <a:ext cx="11406589" cy="720596"/>
          </a:xfrm>
        </p:spPr>
        <p:txBody>
          <a:bodyPr/>
          <a:lstStyle/>
          <a:p>
            <a:r>
              <a:rPr lang="en-US" dirty="0"/>
              <a:t>Final Documentation Report for </a:t>
            </a:r>
            <a:r>
              <a:rPr lang="en-US" i="1" dirty="0" err="1"/>
              <a:t>filter_ma</a:t>
            </a:r>
            <a:r>
              <a:rPr lang="en-US" i="1" dirty="0"/>
              <a:t> </a:t>
            </a:r>
            <a:r>
              <a:rPr lang="en-US" dirty="0"/>
              <a:t>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CE6ED-0253-25B3-AEEE-B4F71ECCA4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AC0F6-22C9-C243-54F7-285BD364FD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E32B80-8E7D-CC35-0BFA-2F7A8CA6A1D4}"/>
              </a:ext>
            </a:extLst>
          </p:cNvPr>
          <p:cNvSpPr txBox="1"/>
          <p:nvPr/>
        </p:nvSpPr>
        <p:spPr>
          <a:xfrm>
            <a:off x="0" y="1442061"/>
            <a:ext cx="11791310" cy="4462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noProof="0" dirty="0"/>
              <a:t>Introduction (1 slide)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Scheme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noProof="0" dirty="0"/>
              <a:t>Main I/O Signals and Parameters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noProof="0" dirty="0"/>
              <a:t>Design of </a:t>
            </a:r>
            <a:r>
              <a:rPr lang="en-US" sz="2400" b="1" dirty="0" err="1"/>
              <a:t>Multiadder</a:t>
            </a:r>
            <a:r>
              <a:rPr lang="en-US" sz="2400" b="1" dirty="0"/>
              <a:t>, Accumulator e </a:t>
            </a:r>
            <a:r>
              <a:rPr lang="en-US" sz="2400" b="1" dirty="0" err="1"/>
              <a:t>divide_by</a:t>
            </a:r>
            <a:r>
              <a:rPr lang="en-US" sz="2400" b="1" dirty="0"/>
              <a:t> (max 6 slides)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noProof="0" dirty="0"/>
              <a:t>Testbenches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Final Simulation Results for NFIFO=32, 64, 128 in VIVADO (max 10 slides)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noProof="0" dirty="0"/>
              <a:t>Frequency Response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Time Domain Evolution of </a:t>
            </a:r>
            <a:r>
              <a:rPr lang="en-US" dirty="0" err="1"/>
              <a:t>ysignal+ynoise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noProof="0" dirty="0"/>
              <a:t>Time Domain Evolution </a:t>
            </a:r>
            <a:r>
              <a:rPr lang="en-US" dirty="0"/>
              <a:t>o</a:t>
            </a:r>
            <a:r>
              <a:rPr lang="en-US" noProof="0" dirty="0"/>
              <a:t>f </a:t>
            </a:r>
            <a:r>
              <a:rPr lang="en-US" noProof="0" dirty="0" err="1"/>
              <a:t>ynoise</a:t>
            </a:r>
            <a:endParaRPr lang="en-US" noProof="0" dirty="0"/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Signal to Noise Ratio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noProof="0" dirty="0"/>
              <a:t>Final Table Resume and Comments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400" b="1" dirty="0"/>
              <a:t>Conclusions (any idea about improvements?)</a:t>
            </a:r>
            <a:endParaRPr lang="en-US" sz="2400" b="1" noProof="0" dirty="0"/>
          </a:p>
        </p:txBody>
      </p:sp>
    </p:spTree>
    <p:extLst>
      <p:ext uri="{BB962C8B-B14F-4D97-AF65-F5344CB8AC3E}">
        <p14:creationId xmlns:p14="http://schemas.microsoft.com/office/powerpoint/2010/main" val="327261037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4E872-B632-BC3D-08D6-A564B0EC8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1B2342F2-74E5-D67A-68CB-6C1C65461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400" y="2302981"/>
            <a:ext cx="3468689" cy="36012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A575B7-7E34-3DB2-2A65-301C39B84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noProof="0" dirty="0" err="1"/>
              <a:t>Introduction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A6D18-756C-142E-58F2-A4C9508211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9723-69E5-36E2-BC85-D6337C05C9B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5ABD52-B62D-45EE-E9CB-5374F6194AAE}"/>
              </a:ext>
            </a:extLst>
          </p:cNvPr>
          <p:cNvSpPr txBox="1"/>
          <p:nvPr/>
        </p:nvSpPr>
        <p:spPr>
          <a:xfrm>
            <a:off x="766232" y="3917955"/>
            <a:ext cx="107288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 err="1">
                <a:solidFill>
                  <a:srgbClr val="0000FF"/>
                </a:solidFill>
              </a:rPr>
              <a:t>Filter_MA</a:t>
            </a:r>
            <a:r>
              <a:rPr lang="en-GB" sz="1800" b="1" dirty="0">
                <a:solidFill>
                  <a:srgbClr val="0000FF"/>
                </a:solidFill>
              </a:rPr>
              <a:t> uses </a:t>
            </a:r>
            <a:r>
              <a:rPr lang="en-GB" sz="1800" b="1" dirty="0" err="1">
                <a:solidFill>
                  <a:srgbClr val="0000FF"/>
                </a:solidFill>
              </a:rPr>
              <a:t>datain</a:t>
            </a:r>
            <a:r>
              <a:rPr lang="en-GB" sz="1800" b="1" dirty="0">
                <a:solidFill>
                  <a:srgbClr val="0000FF"/>
                </a:solidFill>
              </a:rPr>
              <a:t> and </a:t>
            </a:r>
            <a:r>
              <a:rPr lang="en-GB" sz="1800" b="1" dirty="0" err="1">
                <a:solidFill>
                  <a:srgbClr val="0000FF"/>
                </a:solidFill>
              </a:rPr>
              <a:t>dataout</a:t>
            </a:r>
            <a:r>
              <a:rPr lang="en-GB" sz="1800" b="1" dirty="0">
                <a:solidFill>
                  <a:srgbClr val="0000FF"/>
                </a:solidFill>
              </a:rPr>
              <a:t> as input</a:t>
            </a:r>
          </a:p>
          <a:p>
            <a:r>
              <a:rPr lang="en-GB" sz="1800" b="1" dirty="0">
                <a:solidFill>
                  <a:srgbClr val="0000FF"/>
                </a:solidFill>
              </a:rPr>
              <a:t>and output signals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Other signals are used internally to</a:t>
            </a:r>
          </a:p>
          <a:p>
            <a:r>
              <a:rPr lang="en-GB" sz="1800" b="1" dirty="0">
                <a:solidFill>
                  <a:srgbClr val="0000FF"/>
                </a:solidFill>
              </a:rPr>
              <a:t>communicate between components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The parameters used are </a:t>
            </a:r>
            <a:r>
              <a:rPr lang="en-GB" sz="1800" b="1" dirty="0" err="1">
                <a:solidFill>
                  <a:srgbClr val="0000FF"/>
                </a:solidFill>
              </a:rPr>
              <a:t>Nbf</a:t>
            </a:r>
            <a:r>
              <a:rPr lang="en-GB" sz="1800" b="1" dirty="0">
                <a:solidFill>
                  <a:srgbClr val="0000FF"/>
                </a:solidFill>
              </a:rPr>
              <a:t> and log2NFIFO</a:t>
            </a:r>
          </a:p>
          <a:p>
            <a:r>
              <a:rPr lang="en-GB" sz="1800" b="1" dirty="0" err="1">
                <a:solidFill>
                  <a:srgbClr val="0000FF"/>
                </a:solidFill>
              </a:rPr>
              <a:t>Nbf</a:t>
            </a:r>
            <a:r>
              <a:rPr lang="en-GB" sz="1800" b="1" dirty="0">
                <a:solidFill>
                  <a:srgbClr val="0000FF"/>
                </a:solidFill>
              </a:rPr>
              <a:t> = bit resolution of the original signal</a:t>
            </a:r>
          </a:p>
          <a:p>
            <a:r>
              <a:rPr lang="en-GB" sz="1800" b="1" dirty="0">
                <a:solidFill>
                  <a:srgbClr val="0000FF"/>
                </a:solidFill>
              </a:rPr>
              <a:t>log2NFIFO = log2 of the number of elements in the FIFO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0E68B671-E4AF-080B-ED57-3E7BCDC4AE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100" y="1270912"/>
            <a:ext cx="5187950" cy="2518128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E8A2BEB-8015-D303-01DA-C1F127C60C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400" y="1133745"/>
            <a:ext cx="3352800" cy="108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4914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6AB58-9ACB-F2FF-E142-DA3E63D91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50D6E-EADB-4187-31D9-E0B9DA53A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noProof="0" dirty="0"/>
              <a:t>Design of </a:t>
            </a:r>
            <a:r>
              <a:rPr lang="it-IT" noProof="0" dirty="0" err="1"/>
              <a:t>Multiadder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6856E-12C4-7D16-86C3-2743563A73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0EDEE-0F4C-4094-FAA2-8E7A3E30D3C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4B4D83-6EAE-3E2D-AACF-200FF2E54A27}"/>
              </a:ext>
            </a:extLst>
          </p:cNvPr>
          <p:cNvSpPr txBox="1"/>
          <p:nvPr/>
        </p:nvSpPr>
        <p:spPr>
          <a:xfrm>
            <a:off x="766232" y="4464115"/>
            <a:ext cx="107288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We use mask0 to extend </a:t>
            </a:r>
            <a:r>
              <a:rPr lang="en-GB" sz="1800" b="1" dirty="0" err="1">
                <a:solidFill>
                  <a:srgbClr val="0000FF"/>
                </a:solidFill>
              </a:rPr>
              <a:t>datain_fifo</a:t>
            </a:r>
            <a:r>
              <a:rPr lang="en-GB" sz="1800" b="1" dirty="0">
                <a:solidFill>
                  <a:srgbClr val="0000FF"/>
                </a:solidFill>
              </a:rPr>
              <a:t> and </a:t>
            </a:r>
            <a:r>
              <a:rPr lang="en-GB" sz="1800" b="1" dirty="0" err="1">
                <a:solidFill>
                  <a:srgbClr val="0000FF"/>
                </a:solidFill>
              </a:rPr>
              <a:t>dataout_fifo</a:t>
            </a:r>
            <a:r>
              <a:rPr lang="en-GB" sz="1800" b="1" dirty="0">
                <a:solidFill>
                  <a:srgbClr val="0000FF"/>
                </a:solidFill>
              </a:rPr>
              <a:t> to Nb+log2NFIFO-1 bits</a:t>
            </a:r>
          </a:p>
          <a:p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We calculate the sum of the last NFIFO elements by taking the last result (saved in the accumulator), removing the last element and adding the new one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DC37987-972B-7544-8479-BAA3D85A9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351051"/>
            <a:ext cx="7772400" cy="294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8791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E96A5-E325-643C-B1CC-8820369F1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E7EF9-D17C-CF98-9A36-E9465E504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noProof="0" dirty="0"/>
              <a:t>Design of </a:t>
            </a:r>
            <a:r>
              <a:rPr lang="it-IT" noProof="0" dirty="0" err="1"/>
              <a:t>Multiadder</a:t>
            </a:r>
            <a:r>
              <a:rPr lang="it-IT" noProof="0" dirty="0"/>
              <a:t> - </a:t>
            </a:r>
            <a:r>
              <a:rPr lang="it-IT" noProof="0" dirty="0" err="1"/>
              <a:t>Testbench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3B5D2-CFB5-D990-904D-D16C264C4E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46F03-E00C-8C6E-5322-CC9568A7C49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B0B5D-19DA-82ED-EF26-D071AB2296D0}"/>
              </a:ext>
            </a:extLst>
          </p:cNvPr>
          <p:cNvSpPr txBox="1"/>
          <p:nvPr/>
        </p:nvSpPr>
        <p:spPr>
          <a:xfrm>
            <a:off x="766232" y="4464115"/>
            <a:ext cx="10728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We test the </a:t>
            </a:r>
            <a:r>
              <a:rPr lang="en-GB" sz="1800" b="1" dirty="0" err="1">
                <a:solidFill>
                  <a:srgbClr val="0000FF"/>
                </a:solidFill>
              </a:rPr>
              <a:t>Multiadder</a:t>
            </a:r>
            <a:r>
              <a:rPr lang="en-GB" sz="1800" b="1" dirty="0">
                <a:solidFill>
                  <a:srgbClr val="0000FF"/>
                </a:solidFill>
              </a:rPr>
              <a:t> by doing some math operations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FFA73B26-E455-BD4A-63D5-59474C799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6894" y="2081690"/>
            <a:ext cx="5943600" cy="2514600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541E863B-CDD6-1BF5-082F-1F84835B7F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50" y="1223755"/>
            <a:ext cx="3671444" cy="423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44351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9FB1C-8C28-53BF-D04B-62B091F96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812F-CEA1-9A61-D8A7-CCBC65F33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noProof="0" dirty="0"/>
              <a:t>Design of Accumulator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56ED3-07BC-153F-5F7F-1EF73F72FA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805C7-CAD6-85F6-13E5-FF1F71EF74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2943B5-BEF0-7378-94A6-B0E756A3CEFB}"/>
              </a:ext>
            </a:extLst>
          </p:cNvPr>
          <p:cNvSpPr txBox="1"/>
          <p:nvPr/>
        </p:nvSpPr>
        <p:spPr>
          <a:xfrm>
            <a:off x="766232" y="4464115"/>
            <a:ext cx="10728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We used a D-Flip-Flop to delay the result of the </a:t>
            </a:r>
            <a:r>
              <a:rPr lang="en-GB" sz="1800" b="1" dirty="0" err="1">
                <a:solidFill>
                  <a:srgbClr val="0000FF"/>
                </a:solidFill>
              </a:rPr>
              <a:t>Multiadder</a:t>
            </a:r>
            <a:r>
              <a:rPr lang="en-GB" sz="1800" b="1" dirty="0">
                <a:solidFill>
                  <a:srgbClr val="0000FF"/>
                </a:solidFill>
              </a:rPr>
              <a:t> by a clock tick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The Accumulator resets when the reset signal is 0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6EC15E6-0109-95CF-131B-78DFE3B126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56" y="1620939"/>
            <a:ext cx="5104726" cy="326166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D550A10F-769A-A986-3103-87D0A1425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020" y="1223755"/>
            <a:ext cx="4788616" cy="405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885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7CDBC-9034-6D35-484C-A8663F59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3DC2-1D1D-45C3-6110-9126C118E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noProof="0" dirty="0"/>
              <a:t>Design of Accumulator – </a:t>
            </a:r>
            <a:r>
              <a:rPr lang="it-IT" noProof="0" dirty="0" err="1"/>
              <a:t>Testbench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0E782-D160-F998-A09C-25BA0D8745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25A64-9099-22C1-BCC1-BE503345CB6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6D8637-529E-E7B9-A393-679B124AEC83}"/>
              </a:ext>
            </a:extLst>
          </p:cNvPr>
          <p:cNvSpPr txBox="1"/>
          <p:nvPr/>
        </p:nvSpPr>
        <p:spPr>
          <a:xfrm>
            <a:off x="766232" y="4464115"/>
            <a:ext cx="107288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We test the Accumulator using a counter and seeing if the output is delayed by a clock cycle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699DD4E-573B-332A-36D6-D2C2C1CF0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365" y="1306341"/>
            <a:ext cx="7082110" cy="315777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CB55ECE-F388-AD68-7389-84093D3432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007" y="2933945"/>
            <a:ext cx="5715635" cy="218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9533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AD7FC-4F8C-4AF4-31A8-32F06DB4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8EBB1-DAAC-FF6F-33D7-652886776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noProof="0" dirty="0"/>
              <a:t>Design of </a:t>
            </a:r>
            <a:r>
              <a:rPr lang="it-IT" noProof="0" dirty="0" err="1"/>
              <a:t>Divide_by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1CEAC-1E85-792D-96F1-2D619FEA0D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B5382-4CF9-267A-DBC2-24759A4C81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5CFF33-5A56-E598-663E-D0C76B5D9E98}"/>
              </a:ext>
            </a:extLst>
          </p:cNvPr>
          <p:cNvSpPr txBox="1"/>
          <p:nvPr/>
        </p:nvSpPr>
        <p:spPr>
          <a:xfrm>
            <a:off x="766232" y="4464115"/>
            <a:ext cx="10728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We implement </a:t>
            </a:r>
            <a:r>
              <a:rPr lang="en-GB" sz="1800" b="1" dirty="0" err="1">
                <a:solidFill>
                  <a:srgbClr val="0000FF"/>
                </a:solidFill>
              </a:rPr>
              <a:t>Divide_by</a:t>
            </a:r>
            <a:r>
              <a:rPr lang="en-GB" sz="1800" b="1" dirty="0">
                <a:solidFill>
                  <a:srgbClr val="0000FF"/>
                </a:solidFill>
              </a:rPr>
              <a:t> using a right shift of log2NFIFO bits and delaying the output using a D-Flip-Flop</a:t>
            </a:r>
            <a:endParaRPr lang="en-GB" sz="18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72FDD64-3767-3A74-DC14-EFAE83C04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226" y="1313765"/>
            <a:ext cx="6931548" cy="386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90700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67DAF-B471-14D9-1ADD-A549316C4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E43DC-2BB4-BCAF-E799-F62A32AF5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noProof="0" dirty="0"/>
              <a:t>Design of </a:t>
            </a:r>
            <a:r>
              <a:rPr lang="it-IT" noProof="0" dirty="0" err="1"/>
              <a:t>Divide_by</a:t>
            </a:r>
            <a:r>
              <a:rPr lang="it-IT" noProof="0" dirty="0"/>
              <a:t> - </a:t>
            </a:r>
            <a:r>
              <a:rPr lang="it-IT" noProof="0" dirty="0" err="1"/>
              <a:t>Testbench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39505-76E3-4370-52CB-B665537E2A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262108-0A02-20C5-ED41-6784D9F635A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E73C62-23B5-7A8E-9FA8-AC6779A26570}"/>
              </a:ext>
            </a:extLst>
          </p:cNvPr>
          <p:cNvSpPr txBox="1"/>
          <p:nvPr/>
        </p:nvSpPr>
        <p:spPr>
          <a:xfrm>
            <a:off x="766232" y="4464115"/>
            <a:ext cx="10728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We use a counter to apply the </a:t>
            </a:r>
            <a:r>
              <a:rPr lang="en-GB" sz="1800" b="1" dirty="0" err="1">
                <a:solidFill>
                  <a:srgbClr val="0000FF"/>
                </a:solidFill>
              </a:rPr>
              <a:t>Divide_by</a:t>
            </a:r>
            <a:r>
              <a:rPr lang="en-GB" sz="1800" b="1" dirty="0">
                <a:solidFill>
                  <a:srgbClr val="0000FF"/>
                </a:solidFill>
              </a:rPr>
              <a:t> to every number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D388D92-E8FB-947A-B9A9-2CE3E5E6E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1241193"/>
            <a:ext cx="7239000" cy="349250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E88D8BF0-4771-8031-0CA1-B792DF57E1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075" y="2769143"/>
            <a:ext cx="4890678" cy="252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13563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EC684-3CED-EFF0-1031-949E49046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DC04-B2EE-FD84-5C36-1362EB63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pPr marL="457200" lvl="1"/>
            <a:r>
              <a:rPr lang="en-US" sz="3000" dirty="0">
                <a:latin typeface="+mj-lt"/>
                <a:ea typeface="+mj-ea"/>
                <a:cs typeface="+mj-cs"/>
              </a:rPr>
              <a:t>Frequency Response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9C49B-4ABE-1863-7861-F440F6075E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8C74F-CD84-3203-9CF1-EDF93C79716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958FF2-A128-7A94-6F60-4C3D0A1F03FD}"/>
              </a:ext>
            </a:extLst>
          </p:cNvPr>
          <p:cNvSpPr txBox="1"/>
          <p:nvPr/>
        </p:nvSpPr>
        <p:spPr>
          <a:xfrm>
            <a:off x="766232" y="4464115"/>
            <a:ext cx="10728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The filter has removed the high frequency noise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449392E-BEC1-14AF-1784-C773561B2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020" y="1240504"/>
            <a:ext cx="8253959" cy="409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90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2A7E5-1B21-A348-A550-2908CBD83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D618-3296-C7EC-64F6-CCBD8043D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noProof="0" dirty="0" err="1"/>
              <a:t>Simulation</a:t>
            </a:r>
            <a:r>
              <a:rPr lang="it-IT" noProof="0" dirty="0"/>
              <a:t> </a:t>
            </a:r>
            <a:r>
              <a:rPr lang="it-IT" noProof="0" dirty="0" err="1"/>
              <a:t>result</a:t>
            </a:r>
            <a:r>
              <a:rPr lang="it-IT" noProof="0" dirty="0"/>
              <a:t> – NFIFO = 32 (log2NFIFO = 5)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3BEC9-CC7A-255E-32CD-47827488D2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11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3A348-C771-65E7-15FF-0C220357F1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AA45E4-E2DC-D7E1-90EA-2C62DA45211D}"/>
              </a:ext>
            </a:extLst>
          </p:cNvPr>
          <p:cNvSpPr txBox="1"/>
          <p:nvPr/>
        </p:nvSpPr>
        <p:spPr>
          <a:xfrm>
            <a:off x="766232" y="4464115"/>
            <a:ext cx="10728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We can see that the result still shows the presence of some noise</a:t>
            </a:r>
            <a:endParaRPr lang="en-GB" sz="18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6EBBA04-6B70-0A99-5A10-FDC3FDADD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467" y="1313765"/>
            <a:ext cx="9391066" cy="403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92191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96D20-3F36-58CF-2AE3-FE56A007D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FCBDA-37E6-D8D2-149D-726B75148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dirty="0" err="1"/>
              <a:t>Simulation</a:t>
            </a:r>
            <a:r>
              <a:rPr lang="it-IT" dirty="0"/>
              <a:t> </a:t>
            </a:r>
            <a:r>
              <a:rPr lang="it-IT" dirty="0" err="1"/>
              <a:t>result</a:t>
            </a:r>
            <a:r>
              <a:rPr lang="it-IT" dirty="0"/>
              <a:t> – NFIFO = 64 (log2NFIFO = 6)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E2669-C219-AFF1-9276-B2F9ABF395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598ED-E787-E081-8741-5EFFDEFB4ED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E5FA3B-A1A0-B65F-880F-DC3CD5A8497E}"/>
              </a:ext>
            </a:extLst>
          </p:cNvPr>
          <p:cNvSpPr txBox="1"/>
          <p:nvPr/>
        </p:nvSpPr>
        <p:spPr>
          <a:xfrm>
            <a:off x="766232" y="4464115"/>
            <a:ext cx="10728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With NFIFO = 64 the resulting sinusoid shows an improvement</a:t>
            </a:r>
            <a:endParaRPr lang="en-GB" sz="18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0F2F95C9-D336-4B9C-B35D-F6123AE217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186" y="1315746"/>
            <a:ext cx="9421628" cy="404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1541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3C85A-25D5-1C12-053D-E1EAF073F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A2B8B-46AE-23D5-A605-DB562CB8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dirty="0" err="1"/>
              <a:t>Simulation</a:t>
            </a:r>
            <a:r>
              <a:rPr lang="it-IT" dirty="0"/>
              <a:t> </a:t>
            </a:r>
            <a:r>
              <a:rPr lang="it-IT" dirty="0" err="1"/>
              <a:t>result</a:t>
            </a:r>
            <a:r>
              <a:rPr lang="it-IT" dirty="0"/>
              <a:t> – NFIFO = 128 (log2NFIFO = 7)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636B3-100F-A1C8-CA39-0292CED96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296EC-552C-DA95-437A-5F09F06A88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710E03-EE8A-D043-0C3B-AE951E4F41CD}"/>
              </a:ext>
            </a:extLst>
          </p:cNvPr>
          <p:cNvSpPr txBox="1"/>
          <p:nvPr/>
        </p:nvSpPr>
        <p:spPr>
          <a:xfrm>
            <a:off x="766232" y="4464115"/>
            <a:ext cx="10728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With NFIFO = 128 the sinusoid is smoother but with more attenuation</a:t>
            </a:r>
            <a:endParaRPr lang="en-GB" sz="18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24EFDBD2-324E-2891-CBDC-89BD6D6BFE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275" y="1313765"/>
            <a:ext cx="9497450" cy="400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4596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8C3B0-B6B6-3F92-9305-C2B4E5A81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6E48-8387-6BCB-BF8D-56ACB5282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noProof="0" dirty="0" err="1"/>
              <a:t>Simulation</a:t>
            </a:r>
            <a:r>
              <a:rPr lang="it-IT" noProof="0" dirty="0"/>
              <a:t> </a:t>
            </a:r>
            <a:r>
              <a:rPr lang="it-IT" noProof="0" dirty="0" err="1"/>
              <a:t>result</a:t>
            </a:r>
            <a:r>
              <a:rPr lang="it-IT" noProof="0" dirty="0"/>
              <a:t> of </a:t>
            </a:r>
            <a:r>
              <a:rPr lang="it-IT" noProof="0" dirty="0" err="1"/>
              <a:t>noise</a:t>
            </a:r>
            <a:r>
              <a:rPr lang="it-IT" noProof="0" dirty="0"/>
              <a:t> </a:t>
            </a:r>
            <a:r>
              <a:rPr lang="it-IT" dirty="0"/>
              <a:t>-</a:t>
            </a:r>
            <a:r>
              <a:rPr lang="it-IT" noProof="0" dirty="0"/>
              <a:t> NFIFO = 32 (log2NFIFO = 5)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74522-E8B0-70B0-B932-82F42093A8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64019-9D64-296F-1FD9-0468375AAF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F6F672-B692-6245-5E7B-3440D884778A}"/>
              </a:ext>
            </a:extLst>
          </p:cNvPr>
          <p:cNvSpPr txBox="1"/>
          <p:nvPr/>
        </p:nvSpPr>
        <p:spPr>
          <a:xfrm>
            <a:off x="766232" y="4464115"/>
            <a:ext cx="10728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The filter tries to clean the noise signal but the result is not promising</a:t>
            </a:r>
            <a:endParaRPr lang="en-GB" sz="18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26024C8-C8A0-DBD6-117E-4EB915FEA4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51" b="1165"/>
          <a:stretch>
            <a:fillRect/>
          </a:stretch>
        </p:blipFill>
        <p:spPr>
          <a:xfrm>
            <a:off x="1142308" y="1313765"/>
            <a:ext cx="9907383" cy="400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20999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586F1-6BA8-268E-D00B-46879C6C4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FAF2D-6426-E7A3-054E-A5C07687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dirty="0" err="1"/>
              <a:t>Simulation</a:t>
            </a:r>
            <a:r>
              <a:rPr lang="it-IT" dirty="0"/>
              <a:t> </a:t>
            </a:r>
            <a:r>
              <a:rPr lang="it-IT" dirty="0" err="1"/>
              <a:t>result</a:t>
            </a:r>
            <a:r>
              <a:rPr lang="it-IT" dirty="0"/>
              <a:t> of </a:t>
            </a:r>
            <a:r>
              <a:rPr lang="it-IT" dirty="0" err="1"/>
              <a:t>noise</a:t>
            </a:r>
            <a:r>
              <a:rPr lang="it-IT" dirty="0"/>
              <a:t> - NFIFO = 64 (log2NFIFO = 6)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39260-F85E-6E00-E201-B9001902CF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15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C386D-22CB-BCB0-8129-92CF1D25170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F775FE-AE2A-581C-255C-EF6A1BA819A1}"/>
              </a:ext>
            </a:extLst>
          </p:cNvPr>
          <p:cNvSpPr txBox="1"/>
          <p:nvPr/>
        </p:nvSpPr>
        <p:spPr>
          <a:xfrm>
            <a:off x="766232" y="4464115"/>
            <a:ext cx="10728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With NFIFO = 64 we see a noticeable improvement in the resulting signal</a:t>
            </a:r>
            <a:endParaRPr lang="en-GB" sz="18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3B6D1FA-64DD-899E-8F46-28F7546B8D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97" b="3497"/>
          <a:stretch>
            <a:fillRect/>
          </a:stretch>
        </p:blipFill>
        <p:spPr>
          <a:xfrm>
            <a:off x="1614503" y="1313765"/>
            <a:ext cx="8962993" cy="398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611907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4395A-E7A7-7562-F0B9-C70598639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1C81D-AB13-15EF-F93D-F165E383B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dirty="0" err="1"/>
              <a:t>Simulation</a:t>
            </a:r>
            <a:r>
              <a:rPr lang="it-IT" dirty="0"/>
              <a:t> </a:t>
            </a:r>
            <a:r>
              <a:rPr lang="it-IT" dirty="0" err="1"/>
              <a:t>result</a:t>
            </a:r>
            <a:r>
              <a:rPr lang="it-IT" dirty="0"/>
              <a:t> of </a:t>
            </a:r>
            <a:r>
              <a:rPr lang="it-IT" dirty="0" err="1"/>
              <a:t>noise</a:t>
            </a:r>
            <a:r>
              <a:rPr lang="it-IT" dirty="0"/>
              <a:t> - NFIFO = 128 (log2NFIFO = 7)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AC632-F172-6335-3FF2-2D47F8BA16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6CDE1-2C8B-7A15-3198-6A32E0FB9E7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A12A7C-03AE-92CA-6850-BD794E5A8C83}"/>
              </a:ext>
            </a:extLst>
          </p:cNvPr>
          <p:cNvSpPr txBox="1"/>
          <p:nvPr/>
        </p:nvSpPr>
        <p:spPr>
          <a:xfrm>
            <a:off x="766232" y="4464115"/>
            <a:ext cx="10728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With NFIFO = 128 noise is more attenuated but the starting delay is worse</a:t>
            </a:r>
            <a:endParaRPr lang="en-GB" sz="180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746CE43-2847-F04A-FACD-5889677F8C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5" b="1205"/>
          <a:stretch>
            <a:fillRect/>
          </a:stretch>
        </p:blipFill>
        <p:spPr>
          <a:xfrm>
            <a:off x="1601231" y="1313765"/>
            <a:ext cx="8989538" cy="400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4415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60573-C13A-3E6D-BBC9-E03140BF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0B4FE0A9-9089-44D5-B1DC-C5A8EC9CE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74" y="1275468"/>
            <a:ext cx="6155666" cy="2835315"/>
          </a:xfrm>
          <a:prstGeom prst="rect">
            <a:avLst/>
          </a:prstGeom>
          <a:noFill/>
        </p:spPr>
      </p:pic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465262E3-B728-A1BE-FFF4-86968E43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373130"/>
            <a:ext cx="2641600" cy="476250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/>
              <a:t>Author</a:t>
            </a:r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63509366-86DB-6BF4-B9E1-203D3363A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73130"/>
            <a:ext cx="3860800" cy="47625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94474-FC55-4D17-3BA9-681A0993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73130"/>
            <a:ext cx="2641600" cy="47625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fld id="{2E6AEE32-87CF-4B18-ACD9-DC92317905A5}" type="slidenum">
              <a:rPr lang="en-US" altLang="en-US" kern="1200">
                <a:latin typeface="Verdana" panose="020B0604030504040204" pitchFamily="34" charset="0"/>
                <a:ea typeface="ＭＳ Ｐゴシック" panose="020B0600070205080204" pitchFamily="34" charset="-128"/>
                <a:cs typeface="+mn-cs"/>
              </a:rPr>
              <a:pPr>
                <a:spcAft>
                  <a:spcPts val="600"/>
                </a:spcAft>
              </a:pPr>
              <a:t>17</a:t>
            </a:fld>
            <a:endParaRPr lang="en-US" altLang="en-US" kern="1200">
              <a:latin typeface="Verdan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66ED0CC-FE1D-1D6C-14BC-F43A8C7DE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309" y="1275467"/>
            <a:ext cx="5667351" cy="2835316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5D91A2F-2A17-1740-A736-2F4094B230BC}"/>
              </a:ext>
            </a:extLst>
          </p:cNvPr>
          <p:cNvSpPr txBox="1"/>
          <p:nvPr/>
        </p:nvSpPr>
        <p:spPr>
          <a:xfrm>
            <a:off x="8437899" y="4350586"/>
            <a:ext cx="1530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NFIFO = 128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31137E2-C73B-AAA0-C7B9-4A1477177F48}"/>
              </a:ext>
            </a:extLst>
          </p:cNvPr>
          <p:cNvSpPr txBox="1">
            <a:spLocks/>
          </p:cNvSpPr>
          <p:nvPr/>
        </p:nvSpPr>
        <p:spPr bwMode="auto">
          <a:xfrm>
            <a:off x="766232" y="222381"/>
            <a:ext cx="11425767" cy="720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itchFamily="34" charset="0"/>
              </a:defRPr>
            </a:lvl9pPr>
          </a:lstStyle>
          <a:p>
            <a:r>
              <a:rPr lang="en-US" kern="0" dirty="0"/>
              <a:t>Signal to noise ratio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98C35DF3-342B-43AD-52FA-E042E8C4EAFD}"/>
              </a:ext>
            </a:extLst>
          </p:cNvPr>
          <p:cNvSpPr txBox="1"/>
          <p:nvPr/>
        </p:nvSpPr>
        <p:spPr>
          <a:xfrm>
            <a:off x="766232" y="4464115"/>
            <a:ext cx="10728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800" b="1" dirty="0">
              <a:solidFill>
                <a:srgbClr val="0000FF"/>
              </a:solidFill>
            </a:endParaRPr>
          </a:p>
          <a:p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With NFIFO = 32 we notice more noise, less delay and more amplitude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With NFIFO = 128 the noise is reduced with a penalization of more delay and less amplitude</a:t>
            </a:r>
            <a:endParaRPr lang="en-GB" sz="1800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DC3AF4F-0E63-7CE3-EA24-8C5ACA09FE00}"/>
              </a:ext>
            </a:extLst>
          </p:cNvPr>
          <p:cNvSpPr txBox="1"/>
          <p:nvPr/>
        </p:nvSpPr>
        <p:spPr>
          <a:xfrm>
            <a:off x="2613122" y="4350586"/>
            <a:ext cx="1530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NFIFO = 32</a:t>
            </a:r>
          </a:p>
        </p:txBody>
      </p:sp>
    </p:spTree>
    <p:extLst>
      <p:ext uri="{BB962C8B-B14F-4D97-AF65-F5344CB8AC3E}">
        <p14:creationId xmlns:p14="http://schemas.microsoft.com/office/powerpoint/2010/main" val="217621907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B3A23-DBE8-4DE1-80B6-95C0407E2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DC5AA-737C-89ED-A043-D42AA6EF3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222381"/>
            <a:ext cx="7971367" cy="720596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US" dirty="0"/>
              <a:t>Final Table Resume and Comments</a:t>
            </a:r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40268E35-52DA-4783-3ED8-ECA895D8DF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2800" y="6373130"/>
            <a:ext cx="2641600" cy="476250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/>
              <a:t>Author</a:t>
            </a:r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3795E28A-B462-12F5-16B4-C9B4A574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73130"/>
            <a:ext cx="3860800" cy="476250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CEE00-516E-A5DE-AC6E-366E2786D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73130"/>
            <a:ext cx="2641600" cy="47625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fld id="{2E6AEE32-87CF-4B18-ACD9-DC92317905A5}" type="slidenum">
              <a:rPr lang="en-US" altLang="en-US" kern="1200">
                <a:latin typeface="Verdana" panose="020B0604030504040204" pitchFamily="34" charset="0"/>
                <a:ea typeface="ＭＳ Ｐゴシック" panose="020B0600070205080204" pitchFamily="34" charset="-128"/>
                <a:cs typeface="+mn-cs"/>
              </a:rPr>
              <a:pPr>
                <a:spcAft>
                  <a:spcPts val="600"/>
                </a:spcAft>
              </a:pPr>
              <a:t>18</a:t>
            </a:fld>
            <a:endParaRPr lang="en-US" altLang="en-US" kern="1200">
              <a:latin typeface="Verdan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aphicFrame>
        <p:nvGraphicFramePr>
          <p:cNvPr id="3" name="Tabella 2">
            <a:extLst>
              <a:ext uri="{FF2B5EF4-FFF2-40B4-BE49-F238E27FC236}">
                <a16:creationId xmlns:a16="http://schemas.microsoft.com/office/drawing/2014/main" id="{68E12A10-6FD3-7C88-06A0-AA23FAEB04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277343"/>
              </p:ext>
            </p:extLst>
          </p:nvPr>
        </p:nvGraphicFramePr>
        <p:xfrm>
          <a:off x="1184544" y="1448779"/>
          <a:ext cx="9822912" cy="292532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55728">
                  <a:extLst>
                    <a:ext uri="{9D8B030D-6E8A-4147-A177-3AD203B41FA5}">
                      <a16:colId xmlns:a16="http://schemas.microsoft.com/office/drawing/2014/main" val="203863937"/>
                    </a:ext>
                  </a:extLst>
                </a:gridCol>
                <a:gridCol w="2455728">
                  <a:extLst>
                    <a:ext uri="{9D8B030D-6E8A-4147-A177-3AD203B41FA5}">
                      <a16:colId xmlns:a16="http://schemas.microsoft.com/office/drawing/2014/main" val="3444426539"/>
                    </a:ext>
                  </a:extLst>
                </a:gridCol>
                <a:gridCol w="2455728">
                  <a:extLst>
                    <a:ext uri="{9D8B030D-6E8A-4147-A177-3AD203B41FA5}">
                      <a16:colId xmlns:a16="http://schemas.microsoft.com/office/drawing/2014/main" val="153527608"/>
                    </a:ext>
                  </a:extLst>
                </a:gridCol>
                <a:gridCol w="2455728">
                  <a:extLst>
                    <a:ext uri="{9D8B030D-6E8A-4147-A177-3AD203B41FA5}">
                      <a16:colId xmlns:a16="http://schemas.microsoft.com/office/drawing/2014/main" val="1077454714"/>
                    </a:ext>
                  </a:extLst>
                </a:gridCol>
              </a:tblGrid>
              <a:tr h="731331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NFIFO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SNR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Delay </a:t>
                      </a:r>
                      <a:r>
                        <a:rPr lang="it-IT" sz="1200" dirty="0"/>
                        <a:t>(clock </a:t>
                      </a:r>
                      <a:r>
                        <a:rPr lang="it-IT" sz="1200" dirty="0" err="1"/>
                        <a:t>cycles</a:t>
                      </a:r>
                      <a:r>
                        <a:rPr lang="it-IT" sz="1200" dirty="0"/>
                        <a:t>)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 err="1"/>
                        <a:t>Amplitude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565467"/>
                  </a:ext>
                </a:extLst>
              </a:tr>
              <a:tr h="731331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8,63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543973"/>
                  </a:ext>
                </a:extLst>
              </a:tr>
              <a:tr h="731331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7,30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7678220"/>
                  </a:ext>
                </a:extLst>
              </a:tr>
              <a:tr h="731331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5,25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0103333"/>
                  </a:ext>
                </a:extLst>
              </a:tr>
            </a:tbl>
          </a:graphicData>
        </a:graphic>
      </p:graphicFrame>
      <p:sp>
        <p:nvSpPr>
          <p:cNvPr id="5" name="TextBox 8">
            <a:extLst>
              <a:ext uri="{FF2B5EF4-FFF2-40B4-BE49-F238E27FC236}">
                <a16:creationId xmlns:a16="http://schemas.microsoft.com/office/drawing/2014/main" id="{6DA9E496-5CD1-0D26-A171-0A081E1FE5E7}"/>
              </a:ext>
            </a:extLst>
          </p:cNvPr>
          <p:cNvSpPr txBox="1"/>
          <p:nvPr/>
        </p:nvSpPr>
        <p:spPr>
          <a:xfrm>
            <a:off x="766232" y="4464115"/>
            <a:ext cx="107288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With the variation of NFIFO we get an improvement in SNR, but there are also unwanted regressions in the amplitude and delay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GB" sz="1800" b="1" dirty="0">
              <a:solidFill>
                <a:srgbClr val="0000FF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All the tests were done with the </a:t>
            </a:r>
            <a:r>
              <a:rPr lang="en-GB" sz="1800" b="1" dirty="0" err="1">
                <a:solidFill>
                  <a:srgbClr val="0000FF"/>
                </a:solidFill>
              </a:rPr>
              <a:t>Matlab</a:t>
            </a:r>
            <a:r>
              <a:rPr lang="en-GB" sz="1800" b="1" dirty="0">
                <a:solidFill>
                  <a:srgbClr val="0000FF"/>
                </a:solidFill>
              </a:rPr>
              <a:t> variable </a:t>
            </a:r>
            <a:r>
              <a:rPr lang="en-GB" sz="1800" b="1" dirty="0" err="1">
                <a:solidFill>
                  <a:srgbClr val="0000FF"/>
                </a:solidFill>
              </a:rPr>
              <a:t>SNRdb</a:t>
            </a:r>
            <a:r>
              <a:rPr lang="en-GB" sz="1800" b="1" dirty="0">
                <a:solidFill>
                  <a:srgbClr val="0000FF"/>
                </a:solidFill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386524038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37B5-7A0A-45F2-D5B3-1BFB0096A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F623A-8395-A763-F053-B908A2725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noProof="0" dirty="0" err="1"/>
              <a:t>Conclusions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DA548-7EC7-D191-7B03-AF971A11DA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19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1536A-B195-9166-10BD-95C022304BE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8AB67-D0F1-CBC0-3678-4F4E48502E50}"/>
              </a:ext>
            </a:extLst>
          </p:cNvPr>
          <p:cNvSpPr txBox="1"/>
          <p:nvPr/>
        </p:nvSpPr>
        <p:spPr>
          <a:xfrm>
            <a:off x="650343" y="1268760"/>
            <a:ext cx="10728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We concluded that having a filter that cleans more noise can also attenuate the original signal, so it’s not always better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GB" sz="1800" b="1" dirty="0">
                <a:solidFill>
                  <a:srgbClr val="0000FF"/>
                </a:solidFill>
              </a:rPr>
              <a:t>We tried implementing an EMA (</a:t>
            </a:r>
            <a:r>
              <a:rPr lang="it-IT" sz="1800" b="1" dirty="0" err="1">
                <a:solidFill>
                  <a:srgbClr val="0000FF"/>
                </a:solidFill>
              </a:rPr>
              <a:t>Exponential</a:t>
            </a:r>
            <a:r>
              <a:rPr lang="it-IT" sz="1800" b="1" dirty="0">
                <a:solidFill>
                  <a:srgbClr val="0000FF"/>
                </a:solidFill>
              </a:rPr>
              <a:t> </a:t>
            </a:r>
            <a:r>
              <a:rPr lang="it-IT" sz="1800" b="1" dirty="0" err="1">
                <a:solidFill>
                  <a:srgbClr val="0000FF"/>
                </a:solidFill>
              </a:rPr>
              <a:t>Moving</a:t>
            </a:r>
            <a:r>
              <a:rPr lang="it-IT" sz="1800" b="1" dirty="0">
                <a:solidFill>
                  <a:srgbClr val="0000FF"/>
                </a:solidFill>
              </a:rPr>
              <a:t> </a:t>
            </a:r>
            <a:r>
              <a:rPr lang="it-IT" sz="1800" b="1" dirty="0" err="1">
                <a:solidFill>
                  <a:srgbClr val="0000FF"/>
                </a:solidFill>
              </a:rPr>
              <a:t>Average</a:t>
            </a:r>
            <a:r>
              <a:rPr lang="it-IT" sz="1800" b="1" dirty="0">
                <a:solidFill>
                  <a:srgbClr val="0000FF"/>
                </a:solidFill>
              </a:rPr>
              <a:t>) filter to reduce the delay</a:t>
            </a:r>
            <a:endParaRPr lang="en-GB" sz="1800" b="1" dirty="0">
              <a:solidFill>
                <a:srgbClr val="0000FF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B4727C8-5278-15F9-529C-24F94B9EC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75" y="2525230"/>
            <a:ext cx="4742279" cy="335911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D289940-DF34-BA94-F38C-78E69BC95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910" y="2544252"/>
            <a:ext cx="6537486" cy="332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2884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69900" marR="0" indent="-469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Char char="o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69900" marR="0" indent="-469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Char char="o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50" charset="-128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9A656CF8C467741A56A16B7574AC68E" ma:contentTypeVersion="12" ma:contentTypeDescription="Creare un nuovo documento." ma:contentTypeScope="" ma:versionID="4f27b0f6ef663e5da5bafac1efc6fe9a">
  <xsd:schema xmlns:xsd="http://www.w3.org/2001/XMLSchema" xmlns:xs="http://www.w3.org/2001/XMLSchema" xmlns:p="http://schemas.microsoft.com/office/2006/metadata/properties" xmlns:ns3="d81608ca-db68-4891-9f53-9b89cbfff5c6" xmlns:ns4="be3c09a5-e964-4602-bd74-bbf48e0fabf1" targetNamespace="http://schemas.microsoft.com/office/2006/metadata/properties" ma:root="true" ma:fieldsID="8a6d6b69e42fa993b1c0a33dd1bd5a45" ns3:_="" ns4:_="">
    <xsd:import namespace="d81608ca-db68-4891-9f53-9b89cbfff5c6"/>
    <xsd:import namespace="be3c09a5-e964-4602-bd74-bbf48e0fabf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608ca-db68-4891-9f53-9b89cbfff5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c09a5-e964-4602-bd74-bbf48e0fabf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81608ca-db68-4891-9f53-9b89cbfff5c6" xsi:nil="true"/>
  </documentManagement>
</p:properties>
</file>

<file path=customXml/itemProps1.xml><?xml version="1.0" encoding="utf-8"?>
<ds:datastoreItem xmlns:ds="http://schemas.openxmlformats.org/officeDocument/2006/customXml" ds:itemID="{6E8D78F2-F211-4F79-8A63-15AEAF64F2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7A1D52-4C7C-4BE2-BA1D-9D952C857E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608ca-db68-4891-9f53-9b89cbfff5c6"/>
    <ds:schemaRef ds:uri="be3c09a5-e964-4602-bd74-bbf48e0fab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5952B0-BE3F-4397-8C49-DFA106167C99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dcmitype/"/>
    <ds:schemaRef ds:uri="be3c09a5-e964-4602-bd74-bbf48e0fabf1"/>
    <ds:schemaRef ds:uri="d81608ca-db68-4891-9f53-9b89cbfff5c6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10748</TotalTime>
  <Words>648</Words>
  <Application>Microsoft Macintosh PowerPoint</Application>
  <PresentationFormat>Widescreen</PresentationFormat>
  <Paragraphs>153</Paragraphs>
  <Slides>19</Slides>
  <Notes>1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6" baseType="lpstr">
      <vt:lpstr>Arial</vt:lpstr>
      <vt:lpstr>Comic Sans MS</vt:lpstr>
      <vt:lpstr>NimbusRomNo9L-Regu</vt:lpstr>
      <vt:lpstr>Times New Roman</vt:lpstr>
      <vt:lpstr>Verdana</vt:lpstr>
      <vt:lpstr>Wingdings</vt:lpstr>
      <vt:lpstr>Profile</vt:lpstr>
      <vt:lpstr> Lorenzo Pina 894396, Simone Rancati 900052</vt:lpstr>
      <vt:lpstr>Final Documentation Report for filter_ma DESIGN</vt:lpstr>
      <vt:lpstr>Introduction</vt:lpstr>
      <vt:lpstr>Design of Multiadder</vt:lpstr>
      <vt:lpstr>Design of Multiadder - Testbench</vt:lpstr>
      <vt:lpstr>Design of Accumulator</vt:lpstr>
      <vt:lpstr>Design of Accumulator – Testbench</vt:lpstr>
      <vt:lpstr>Design of Divide_by</vt:lpstr>
      <vt:lpstr>Design of Divide_by - Testbench</vt:lpstr>
      <vt:lpstr>Frequency Response</vt:lpstr>
      <vt:lpstr>Simulation result – NFIFO = 32 (log2NFIFO = 5)</vt:lpstr>
      <vt:lpstr>Simulation result – NFIFO = 64 (log2NFIFO = 6)</vt:lpstr>
      <vt:lpstr>Simulation result – NFIFO = 128 (log2NFIFO = 7)</vt:lpstr>
      <vt:lpstr>Simulation result of noise - NFIFO = 32 (log2NFIFO = 5)</vt:lpstr>
      <vt:lpstr>Simulation result of noise - NFIFO = 64 (log2NFIFO = 6)</vt:lpstr>
      <vt:lpstr>Simulation result of noise - NFIFO = 128 (log2NFIFO = 7)</vt:lpstr>
      <vt:lpstr>Presentazione standard di PowerPoint</vt:lpstr>
      <vt:lpstr>Final Table Resume and Comments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</dc:creator>
  <cp:lastModifiedBy>Simone Rancati</cp:lastModifiedBy>
  <cp:revision>8581</cp:revision>
  <cp:lastPrinted>2022-09-05T12:26:59Z</cp:lastPrinted>
  <dcterms:created xsi:type="dcterms:W3CDTF">2009-04-22T19:24:48Z</dcterms:created>
  <dcterms:modified xsi:type="dcterms:W3CDTF">2026-06-14T16:24:07Z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0x01010009A656CF8C467741A56A16B7574AC68E</vt:lpwstr>
  </property>
</Properties>
</file>