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10">
  <p:sldMasterIdLst>
    <p:sldMasterId id="2147483688" r:id="rId4"/>
  </p:sldMasterIdLst>
  <p:notesMasterIdLst>
    <p:notesMasterId r:id="rId19"/>
  </p:notesMasterIdLst>
  <p:handoutMasterIdLst>
    <p:handoutMasterId r:id="rId20"/>
  </p:handoutMasterIdLst>
  <p:sldIdLst>
    <p:sldId id="898" r:id="rId5"/>
    <p:sldId id="1159" r:id="rId6"/>
    <p:sldId id="1129" r:id="rId7"/>
    <p:sldId id="1160" r:id="rId8"/>
    <p:sldId id="1161" r:id="rId9"/>
    <p:sldId id="1162" r:id="rId10"/>
    <p:sldId id="1163" r:id="rId11"/>
    <p:sldId id="1164" r:id="rId12"/>
    <p:sldId id="1165" r:id="rId13"/>
    <p:sldId id="1167" r:id="rId14"/>
    <p:sldId id="1166" r:id="rId15"/>
    <p:sldId id="1168" r:id="rId16"/>
    <p:sldId id="1169" r:id="rId17"/>
    <p:sldId id="1170" r:id="rId18"/>
  </p:sldIdLst>
  <p:sldSz cx="12192000" cy="6858000"/>
  <p:notesSz cx="6946900" cy="10058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86" userDrawn="1">
          <p15:clr>
            <a:srgbClr val="A4A3A4"/>
          </p15:clr>
        </p15:guide>
        <p15:guide id="2" pos="716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69">
          <p15:clr>
            <a:srgbClr val="A4A3A4"/>
          </p15:clr>
        </p15:guide>
        <p15:guide id="2" pos="218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Xichen Li" initials="XL" lastIdx="9" clrIdx="0">
    <p:extLst>
      <p:ext uri="{19B8F6BF-5375-455C-9EA6-DF929625EA0E}">
        <p15:presenceInfo xmlns:p15="http://schemas.microsoft.com/office/powerpoint/2012/main" userId="45f28ff92f64b98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FF3399"/>
    <a:srgbClr val="FFCCFF"/>
    <a:srgbClr val="00FF00"/>
    <a:srgbClr val="FFFF66"/>
    <a:srgbClr val="00FFFF"/>
    <a:srgbClr val="FF0066"/>
    <a:srgbClr val="0066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72" autoAdjust="0"/>
    <p:restoredTop sz="95759" autoAdjust="0"/>
  </p:normalViewPr>
  <p:slideViewPr>
    <p:cSldViewPr snapToObjects="1">
      <p:cViewPr varScale="1">
        <p:scale>
          <a:sx n="135" d="100"/>
          <a:sy n="135" d="100"/>
        </p:scale>
        <p:origin x="456" y="176"/>
      </p:cViewPr>
      <p:guideLst>
        <p:guide orient="horz" pos="686"/>
        <p:guide pos="7167"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 snapToObjects="1">
      <p:cViewPr varScale="1">
        <p:scale>
          <a:sx n="66" d="100"/>
          <a:sy n="66" d="100"/>
        </p:scale>
        <p:origin x="4086" y="54"/>
      </p:cViewPr>
      <p:guideLst>
        <p:guide orient="horz" pos="3169"/>
        <p:guide pos="2187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3700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3700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Times New Roman" panose="02020603050405020304" pitchFamily="18" charset="0"/>
              </a:defRPr>
            </a:lvl1pPr>
          </a:lstStyle>
          <a:p>
            <a:fld id="{D95DEC9B-2CEC-4405-ADE4-D0456C051506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17670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90850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32238" y="0"/>
            <a:ext cx="2989262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286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177800"/>
            <a:ext cx="5446713" cy="30638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61925" y="3351213"/>
            <a:ext cx="6623050" cy="609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ja-JP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44050"/>
            <a:ext cx="299085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2238" y="9544050"/>
            <a:ext cx="2989262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Arial" panose="020B0604020202020204" pitchFamily="34" charset="0"/>
              </a:defRPr>
            </a:lvl1pPr>
          </a:lstStyle>
          <a:p>
            <a:fld id="{D6B6717F-986F-4A3F-9037-B1B1D8AD583E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7443852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600" b="1" kern="1200">
        <a:solidFill>
          <a:schemeClr val="tx1"/>
        </a:solidFill>
        <a:latin typeface="Arial" charset="0"/>
        <a:ea typeface="HG丸ｺﾞｼｯｸM-PRO" pitchFamily="50" charset="-128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B6717F-986F-4A3F-9037-B1B1D8AD583E}" type="slidenum">
              <a:rPr lang="en-US" altLang="ja-JP" smtClean="0"/>
              <a:pPr/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72870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/>
          <p:cNvSpPr>
            <a:spLocks noChangeArrowheads="1"/>
          </p:cNvSpPr>
          <p:nvPr/>
        </p:nvSpPr>
        <p:spPr bwMode="auto">
          <a:xfrm>
            <a:off x="914400" y="3339557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36499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649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2635766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585382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E6AEE32-87CF-4B18-ACD9-DC92317905A5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  <p:sp>
        <p:nvSpPr>
          <p:cNvPr id="6" name="Footer Placehold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z="1400" b="1">
                <a:latin typeface="Comic Sans MS" panose="030F0702030302020204" pitchFamily="66" charset="0"/>
              </a:defRPr>
            </a:lvl1pPr>
          </a:lstStyle>
          <a:p>
            <a:pPr>
              <a:defRPr/>
            </a:pPr>
            <a:endParaRPr lang="en-US" dirty="0">
              <a:solidFill>
                <a:srgbClr val="0000FF"/>
              </a:solidFill>
            </a:endParaRPr>
          </a:p>
        </p:txBody>
      </p:sp>
      <p:pic>
        <p:nvPicPr>
          <p:cNvPr id="4" name="Picture 3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80FB6A95-E479-121B-BCF2-A197FB93F1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3" y="5943788"/>
            <a:ext cx="766647" cy="8269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F60219-CCBB-558E-09C1-CD961B584888}"/>
              </a:ext>
            </a:extLst>
          </p:cNvPr>
          <p:cNvSpPr txBox="1"/>
          <p:nvPr userDrawn="1"/>
        </p:nvSpPr>
        <p:spPr>
          <a:xfrm>
            <a:off x="755651" y="6354325"/>
            <a:ext cx="25520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INFORMATICA INDUSTRIALE</a:t>
            </a:r>
          </a:p>
          <a:p>
            <a:pPr algn="ctr">
              <a:defRPr/>
            </a:pPr>
            <a:r>
              <a:rPr lang="en-US" sz="1200" b="1" dirty="0">
                <a:solidFill>
                  <a:srgbClr val="0000FF"/>
                </a:solidFill>
                <a:latin typeface="Comic Sans MS" panose="030F0702030302020204" pitchFamily="66" charset="0"/>
              </a:rPr>
              <a:t>email@unimib.it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8339A5-0ED6-D609-7369-31F0EB80C236}"/>
              </a:ext>
            </a:extLst>
          </p:cNvPr>
          <p:cNvSpPr txBox="1"/>
          <p:nvPr userDrawn="1"/>
        </p:nvSpPr>
        <p:spPr>
          <a:xfrm>
            <a:off x="5465930" y="6354325"/>
            <a:ext cx="60943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altLang="en-US" sz="2000" b="1" dirty="0">
                <a:solidFill>
                  <a:srgbClr val="00B050"/>
                </a:solidFill>
                <a:latin typeface="Comic Sans MS" panose="030F0702030302020204" pitchFamily="66" charset="0"/>
              </a:rPr>
              <a:t>FPGA Design – Digital </a:t>
            </a:r>
            <a:r>
              <a:rPr lang="it-IT" altLang="en-US" sz="2000" b="1" dirty="0" err="1">
                <a:solidFill>
                  <a:srgbClr val="00B050"/>
                </a:solidFill>
                <a:latin typeface="Comic Sans MS" panose="030F0702030302020204" pitchFamily="66" charset="0"/>
              </a:rPr>
              <a:t>Signals</a:t>
            </a:r>
            <a:endParaRPr lang="en-GB" altLang="en-US" sz="2000" b="1" dirty="0">
              <a:solidFill>
                <a:srgbClr val="00B05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72822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30875EF-C2EB-41B9-9120-4F34CB1DDB5F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00703208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6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12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70ECB4-3ED6-47B4-92E1-16EDC40A6A2B}" type="slidenum">
              <a:rPr lang="en-US" altLang="en-US"/>
              <a:pPr/>
              <a:t>‹N›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840032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6800" y="223200"/>
            <a:ext cx="7970400" cy="72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32AD43-E5B6-4C0C-B28F-4F3BDC35F92C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0586158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6233" y="222381"/>
            <a:ext cx="7971367" cy="720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55651" y="1333500"/>
            <a:ext cx="10668000" cy="43061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812800" y="989013"/>
            <a:ext cx="10610851" cy="109537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812800" y="6309320"/>
            <a:ext cx="105664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 sz="2000"/>
          </a:p>
        </p:txBody>
      </p:sp>
      <p:sp>
        <p:nvSpPr>
          <p:cNvPr id="1363974" name="Rectangle 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28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1363975" name="Rectangle 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73130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63976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669A0AA-7294-4E49-A360-EB85DE381848}" type="slidenum">
              <a:rPr lang="en-US" altLang="en-US"/>
              <a:pPr/>
              <a:t>‹N›</a:t>
            </a:fld>
            <a:r>
              <a:rPr lang="en-US" altLang="en-US" dirty="0"/>
              <a:t> of 70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86" r:id="rId1"/>
    <p:sldLayoutId id="2147484087" r:id="rId2"/>
    <p:sldLayoutId id="2147484079" r:id="rId3"/>
    <p:sldLayoutId id="2147484088" r:id="rId4"/>
    <p:sldLayoutId id="2147484080" r:id="rId5"/>
  </p:sldLayoutIdLst>
  <p:transition/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5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600">
          <a:solidFill>
            <a:schemeClr val="tx1"/>
          </a:solidFill>
          <a:latin typeface="+mn-lt"/>
        </a:defRPr>
      </a:lvl2pPr>
      <a:lvl3pPr marL="1304925" indent="-39528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2300">
          <a:solidFill>
            <a:schemeClr val="tx1"/>
          </a:solidFill>
          <a:latin typeface="+mn-lt"/>
        </a:defRPr>
      </a:lvl3pPr>
      <a:lvl4pPr marL="1693863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93913" indent="-398463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511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30083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655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9227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C030536-D6A3-FCE3-120C-737C116148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399" y="1583795"/>
            <a:ext cx="10537195" cy="1371600"/>
          </a:xfrm>
        </p:spPr>
        <p:txBody>
          <a:bodyPr/>
          <a:lstStyle/>
          <a:p>
            <a:br>
              <a:rPr lang="en-GB" altLang="en-US" sz="2400" b="1" dirty="0"/>
            </a:br>
            <a:r>
              <a:rPr lang="en-GB" altLang="en-US" sz="2400" b="1" dirty="0"/>
              <a:t>Lorenzo Pina 894396, Simone Rancati 900052</a:t>
            </a:r>
            <a:endParaRPr lang="en-GB" altLang="en-US" sz="2400" dirty="0"/>
          </a:p>
        </p:txBody>
      </p:sp>
      <p:pic>
        <p:nvPicPr>
          <p:cNvPr id="9" name="Picture 8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248F0F6B-6FF7-0BDC-4633-8BF6DF0E1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6470" y="4914165"/>
            <a:ext cx="1440160" cy="1553377"/>
          </a:xfrm>
          <a:prstGeom prst="rect">
            <a:avLst/>
          </a:prstGeom>
        </p:spPr>
      </p:pic>
      <p:sp>
        <p:nvSpPr>
          <p:cNvPr id="3" name="Subtitle 7">
            <a:extLst>
              <a:ext uri="{FF2B5EF4-FFF2-40B4-BE49-F238E27FC236}">
                <a16:creationId xmlns:a16="http://schemas.microsoft.com/office/drawing/2014/main" id="{4501EFC6-D762-8243-D017-B6D989F073E7}"/>
              </a:ext>
            </a:extLst>
          </p:cNvPr>
          <p:cNvSpPr txBox="1">
            <a:spLocks/>
          </p:cNvSpPr>
          <p:nvPr/>
        </p:nvSpPr>
        <p:spPr bwMode="auto">
          <a:xfrm>
            <a:off x="920426" y="2901533"/>
            <a:ext cx="10891209" cy="4061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altLang="en-US" sz="2000" kern="0" dirty="0"/>
              <a:t>Informatica Industriale</a:t>
            </a:r>
            <a:endParaRPr lang="en-US" sz="2600" kern="0" dirty="0"/>
          </a:p>
        </p:txBody>
      </p:sp>
      <p:pic>
        <p:nvPicPr>
          <p:cNvPr id="4" name="Picture 3" descr="A logo with a gold and blue text&#10;&#10;Description automatically generated with medium confidence">
            <a:extLst>
              <a:ext uri="{FF2B5EF4-FFF2-40B4-BE49-F238E27FC236}">
                <a16:creationId xmlns:a16="http://schemas.microsoft.com/office/drawing/2014/main" id="{140A5226-4D66-DB39-6D5D-E593DD2B678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197" y="5010689"/>
            <a:ext cx="2017820" cy="1360328"/>
          </a:xfrm>
          <a:prstGeom prst="rect">
            <a:avLst/>
          </a:prstGeom>
        </p:spPr>
      </p:pic>
      <p:sp>
        <p:nvSpPr>
          <p:cNvPr id="5" name="Subtitle 7">
            <a:extLst>
              <a:ext uri="{FF2B5EF4-FFF2-40B4-BE49-F238E27FC236}">
                <a16:creationId xmlns:a16="http://schemas.microsoft.com/office/drawing/2014/main" id="{7FEB1B2F-A930-2425-989C-37A3A776ED3F}"/>
              </a:ext>
            </a:extLst>
          </p:cNvPr>
          <p:cNvSpPr txBox="1">
            <a:spLocks/>
          </p:cNvSpPr>
          <p:nvPr/>
        </p:nvSpPr>
        <p:spPr bwMode="auto">
          <a:xfrm>
            <a:off x="920426" y="5010689"/>
            <a:ext cx="10891209" cy="398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sz="1500" b="1" dirty="0">
                <a:solidFill>
                  <a:srgbClr val="0000FF"/>
                </a:solidFill>
                <a:latin typeface="NimbusRomNo9L-Regu"/>
              </a:rPr>
              <a:t>l.pina4@campus.unimib.it, s.rancati8@campus.unimib.it</a:t>
            </a:r>
            <a:endParaRPr lang="it-IT" sz="1500" b="1" i="0" u="none" strike="noStrike" baseline="0" dirty="0">
              <a:solidFill>
                <a:srgbClr val="0000FF"/>
              </a:solidFill>
              <a:latin typeface="NimbusRomNo9L-Regu"/>
            </a:endParaRPr>
          </a:p>
          <a:p>
            <a:pPr algn="ctr"/>
            <a:endParaRPr lang="it-IT" sz="1500" b="0" i="0" u="none" strike="noStrike" baseline="0" dirty="0">
              <a:latin typeface="NimbusRomNo9L-Regu"/>
            </a:endParaRPr>
          </a:p>
          <a:p>
            <a:r>
              <a:rPr lang="it-IT" sz="1500" b="0" i="0" u="none" strike="noStrike" baseline="0" dirty="0" err="1">
                <a:latin typeface="NimbusRomNo9L-Regu"/>
              </a:rPr>
              <a:t>Microelectronics</a:t>
            </a:r>
            <a:r>
              <a:rPr lang="it-IT" sz="1500" b="0" i="0" u="none" strike="noStrike" baseline="0" dirty="0">
                <a:latin typeface="NimbusRomNo9L-Regu"/>
              </a:rPr>
              <a:t> Group</a:t>
            </a:r>
            <a:br>
              <a:rPr lang="pl-PL" altLang="en-US" sz="1500" kern="0" dirty="0"/>
            </a:br>
            <a:endParaRPr lang="en-US" sz="1500" kern="0" dirty="0"/>
          </a:p>
        </p:txBody>
      </p:sp>
      <p:pic>
        <p:nvPicPr>
          <p:cNvPr id="6" name="Picture 5" descr="A blue circuit board with black background&#10;&#10;AI-generated content may be incorrect.">
            <a:extLst>
              <a:ext uri="{FF2B5EF4-FFF2-40B4-BE49-F238E27FC236}">
                <a16:creationId xmlns:a16="http://schemas.microsoft.com/office/drawing/2014/main" id="{1CFD4DE1-0AC0-CE25-563B-C4BB22276B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625" y="64349"/>
            <a:ext cx="3975037" cy="3975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3799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3FF97-18AA-652C-ABE4-4249A1BC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F8E3B-8185-A5AA-39EC-BBEC33D79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410" y="222381"/>
            <a:ext cx="11406589" cy="720596"/>
          </a:xfrm>
        </p:spPr>
        <p:txBody>
          <a:bodyPr/>
          <a:lstStyle/>
          <a:p>
            <a:r>
              <a:rPr lang="en-US" dirty="0"/>
              <a:t>Final Documentation Report for </a:t>
            </a:r>
            <a:r>
              <a:rPr lang="en-US" i="1" dirty="0" err="1"/>
              <a:t>filter_ma</a:t>
            </a:r>
            <a:r>
              <a:rPr lang="en-US" i="1" dirty="0"/>
              <a:t> </a:t>
            </a:r>
            <a:r>
              <a:rPr lang="en-US" dirty="0"/>
              <a:t>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CE6ED-0253-25B3-AEEE-B4F71ECCA4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2AC0F6-22C9-C243-54F7-285BD364FDC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E32B80-8E7D-CC35-0BFA-2F7A8CA6A1D4}"/>
              </a:ext>
            </a:extLst>
          </p:cNvPr>
          <p:cNvSpPr txBox="1"/>
          <p:nvPr/>
        </p:nvSpPr>
        <p:spPr>
          <a:xfrm>
            <a:off x="0" y="1442061"/>
            <a:ext cx="11791310" cy="4462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Introduction (1 slide)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Scheme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Main I/O Signals and Parameters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Design of </a:t>
            </a:r>
            <a:r>
              <a:rPr lang="en-US" sz="2400" b="1" dirty="0" err="1"/>
              <a:t>Multiadder</a:t>
            </a:r>
            <a:r>
              <a:rPr lang="en-US" sz="2400" b="1" dirty="0"/>
              <a:t>, Accumulator e </a:t>
            </a:r>
            <a:r>
              <a:rPr lang="en-US" sz="2400" b="1" dirty="0" err="1"/>
              <a:t>divide_by</a:t>
            </a:r>
            <a:r>
              <a:rPr lang="en-US" sz="2400" b="1" dirty="0"/>
              <a:t> (max 6 slides)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Testbenches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dirty="0"/>
              <a:t>Final Simulation Results for NFIFO=32, 64, 128 in VIVADO (max 10 slides)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Frequency Response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Time Domain Evolution of </a:t>
            </a:r>
            <a:r>
              <a:rPr lang="en-US" dirty="0" err="1"/>
              <a:t>ysignal+ynoise</a:t>
            </a:r>
            <a:endParaRPr lang="en-US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Time Domain Evolution </a:t>
            </a:r>
            <a:r>
              <a:rPr lang="en-US" dirty="0"/>
              <a:t>o</a:t>
            </a:r>
            <a:r>
              <a:rPr lang="en-US" noProof="0" dirty="0"/>
              <a:t>f </a:t>
            </a:r>
            <a:r>
              <a:rPr lang="en-US" noProof="0" dirty="0" err="1"/>
              <a:t>ynoise</a:t>
            </a:r>
            <a:endParaRPr lang="en-US" noProof="0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Signal to Noise Ratio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Final Table Resume </a:t>
            </a:r>
            <a:r>
              <a:rPr lang="en-US" sz="2400" b="1" noProof="0"/>
              <a:t>and Comments</a:t>
            </a:r>
            <a:endParaRPr lang="en-US" sz="2400" b="1" noProof="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dirty="0"/>
              <a:t>Conclusions (any idea about improvements?)</a:t>
            </a:r>
            <a:endParaRPr lang="en-US" sz="2400" b="1" noProof="0" dirty="0"/>
          </a:p>
        </p:txBody>
      </p:sp>
    </p:spTree>
    <p:extLst>
      <p:ext uri="{BB962C8B-B14F-4D97-AF65-F5344CB8AC3E}">
        <p14:creationId xmlns:p14="http://schemas.microsoft.com/office/powerpoint/2010/main" val="3272610378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4E872-B632-BC3D-08D6-A564B0EC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75B7-7E34-3DB2-2A65-301C39B84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Introduction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A6D18-756C-142E-58F2-A4C9508211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9723-69E5-36E2-BC85-D6337C05C9B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5ABD52-B62D-45EE-E9CB-5374F6194AAE}"/>
              </a:ext>
            </a:extLst>
          </p:cNvPr>
          <p:cNvSpPr txBox="1"/>
          <p:nvPr/>
        </p:nvSpPr>
        <p:spPr>
          <a:xfrm>
            <a:off x="766232" y="3917955"/>
            <a:ext cx="107288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 err="1">
                <a:solidFill>
                  <a:srgbClr val="0000FF"/>
                </a:solidFill>
              </a:rPr>
              <a:t>Filter_MA</a:t>
            </a:r>
            <a:r>
              <a:rPr lang="en-GB" sz="1800" b="1" dirty="0">
                <a:solidFill>
                  <a:srgbClr val="0000FF"/>
                </a:solidFill>
              </a:rPr>
              <a:t> uses </a:t>
            </a:r>
            <a:r>
              <a:rPr lang="en-GB" sz="1800" b="1" dirty="0" err="1">
                <a:solidFill>
                  <a:srgbClr val="0000FF"/>
                </a:solidFill>
              </a:rPr>
              <a:t>datain</a:t>
            </a:r>
            <a:r>
              <a:rPr lang="en-GB" sz="1800" b="1" dirty="0">
                <a:solidFill>
                  <a:srgbClr val="0000FF"/>
                </a:solidFill>
              </a:rPr>
              <a:t> and </a:t>
            </a:r>
            <a:r>
              <a:rPr lang="en-GB" sz="1800" b="1" dirty="0" err="1">
                <a:solidFill>
                  <a:srgbClr val="0000FF"/>
                </a:solidFill>
              </a:rPr>
              <a:t>dataout</a:t>
            </a:r>
            <a:r>
              <a:rPr lang="en-GB" sz="1800" b="1" dirty="0">
                <a:solidFill>
                  <a:srgbClr val="0000FF"/>
                </a:solidFill>
              </a:rPr>
              <a:t> as input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and output signals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Other signals are used internally to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communicate between components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parameters used are </a:t>
            </a:r>
            <a:r>
              <a:rPr lang="en-GB" sz="1800" b="1" dirty="0" err="1">
                <a:solidFill>
                  <a:srgbClr val="0000FF"/>
                </a:solidFill>
              </a:rPr>
              <a:t>Nbf</a:t>
            </a:r>
            <a:r>
              <a:rPr lang="en-GB" sz="1800" b="1" dirty="0">
                <a:solidFill>
                  <a:srgbClr val="0000FF"/>
                </a:solidFill>
              </a:rPr>
              <a:t> and log2NFIFO</a:t>
            </a:r>
          </a:p>
          <a:p>
            <a:r>
              <a:rPr lang="en-GB" sz="1800" b="1" dirty="0" err="1">
                <a:solidFill>
                  <a:srgbClr val="0000FF"/>
                </a:solidFill>
              </a:rPr>
              <a:t>Nbf</a:t>
            </a:r>
            <a:r>
              <a:rPr lang="en-GB" sz="1800" b="1" dirty="0">
                <a:solidFill>
                  <a:srgbClr val="0000FF"/>
                </a:solidFill>
              </a:rPr>
              <a:t> = bit resolution of signal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log2NFIFO = number of elements in the FIFO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B2342F2-74E5-D67A-68CB-6C1C654614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084" y="1313765"/>
            <a:ext cx="4509005" cy="4681381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E68B671-E4AF-080B-ED57-3E7BCDC4AE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445" y="1223755"/>
            <a:ext cx="5187950" cy="251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49146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6AB58-9ACB-F2FF-E142-DA3E63D91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50D6E-EADB-4187-31D9-E0B9DA53A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Multiadder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6856E-12C4-7D16-86C3-2743563A73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0EDEE-0F4C-4094-FAA2-8E7A3E30D3C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4B4D83-6EAE-3E2D-AACF-200FF2E54A27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 mask0 to extend </a:t>
            </a:r>
            <a:r>
              <a:rPr lang="en-GB" sz="1800" b="1" dirty="0" err="1">
                <a:solidFill>
                  <a:srgbClr val="0000FF"/>
                </a:solidFill>
              </a:rPr>
              <a:t>datain_fifo</a:t>
            </a:r>
            <a:r>
              <a:rPr lang="en-GB" sz="1800" b="1" dirty="0">
                <a:solidFill>
                  <a:srgbClr val="0000FF"/>
                </a:solidFill>
              </a:rPr>
              <a:t> and </a:t>
            </a:r>
            <a:r>
              <a:rPr lang="en-GB" sz="1800" b="1" dirty="0" err="1">
                <a:solidFill>
                  <a:srgbClr val="0000FF"/>
                </a:solidFill>
              </a:rPr>
              <a:t>dataout_fifo</a:t>
            </a:r>
            <a:r>
              <a:rPr lang="en-GB" sz="1800" b="1" dirty="0">
                <a:solidFill>
                  <a:srgbClr val="0000FF"/>
                </a:solidFill>
              </a:rPr>
              <a:t> to Nb+log2NFIFO-1 bits</a:t>
            </a: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calculate the sum of the last NFIFO elements by taking the last result (saved in the accumulator), removing the last element and adding the new one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DC37987-972B-7544-8479-BAA3D85A9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351051"/>
            <a:ext cx="7772400" cy="294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18791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E96A5-E325-643C-B1CC-8820369F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E7EF9-D17C-CF98-9A36-E9465E504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Multiadder</a:t>
            </a:r>
            <a:r>
              <a:rPr lang="it-IT" noProof="0" dirty="0"/>
              <a:t> -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3B5D2-CFB5-D990-904D-D16C264C4E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46F03-E00C-8C6E-5322-CC9568A7C49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B0B5D-19DA-82ED-EF26-D071AB2296D0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test the </a:t>
            </a:r>
            <a:r>
              <a:rPr lang="en-GB" sz="1800" b="1" dirty="0" err="1">
                <a:solidFill>
                  <a:srgbClr val="0000FF"/>
                </a:solidFill>
              </a:rPr>
              <a:t>Multiadder</a:t>
            </a:r>
            <a:r>
              <a:rPr lang="en-GB" sz="1800" b="1" dirty="0">
                <a:solidFill>
                  <a:srgbClr val="0000FF"/>
                </a:solidFill>
              </a:rPr>
              <a:t> by doing some math operations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FFA73B26-E455-BD4A-63D5-59474C7997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894" y="2081690"/>
            <a:ext cx="5943600" cy="25146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541E863B-CDD6-1BF5-082F-1F84835B7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450" y="1223755"/>
            <a:ext cx="3671444" cy="423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443519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9FB1C-8C28-53BF-D04B-62B091F9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812F-CEA1-9A61-D8A7-CCBC65F33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Accumulator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56ED3-07BC-153F-5F7F-1EF73F72FA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805C7-CAD6-85F6-13E5-FF1F71EF74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2943B5-BEF0-7378-94A6-B0E756A3CEFB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used a D-Flip-Flop to delay the result of the </a:t>
            </a:r>
            <a:r>
              <a:rPr lang="en-GB" sz="1800" b="1" dirty="0" err="1">
                <a:solidFill>
                  <a:srgbClr val="0000FF"/>
                </a:solidFill>
              </a:rPr>
              <a:t>Multiadder</a:t>
            </a:r>
            <a:r>
              <a:rPr lang="en-GB" sz="1800" b="1" dirty="0">
                <a:solidFill>
                  <a:srgbClr val="0000FF"/>
                </a:solidFill>
              </a:rPr>
              <a:t> by a clock tick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Accumulator resets when the reset signal is 0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6EC15E6-0109-95CF-131B-78DFE3B12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56" y="1620939"/>
            <a:ext cx="5104726" cy="326166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D550A10F-769A-A986-3103-87D0A1425F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6020" y="1223755"/>
            <a:ext cx="4788616" cy="405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8853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7CDBC-9034-6D35-484C-A8663F59E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D3DC2-1D1D-45C3-6110-9126C118E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Accumulator –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0E782-D160-F998-A09C-25BA0D8745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25A64-9099-22C1-BCC1-BE503345CB6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D8637-529E-E7B9-A393-679B124AEC83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test the Accumulator using a counter and seeing if the output is delayed by a clock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699DD4E-573B-332A-36D6-D2C2C1CF0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365" y="1306341"/>
            <a:ext cx="7082110" cy="3157774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9CB55ECE-F388-AD68-7389-84093D3432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2007" y="2933945"/>
            <a:ext cx="5715635" cy="2188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79533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D7FC-4F8C-4AF4-31A8-32F06DB4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8EBB1-DAAC-FF6F-33D7-652886776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Divide_by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1CEAC-1E85-792D-96F1-2D619FEA0DE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B5382-4CF9-267A-DBC2-24759A4C81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CFF33-5A56-E598-663E-D0C76B5D9E98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implement </a:t>
            </a:r>
            <a:r>
              <a:rPr lang="en-GB" sz="1800" b="1" dirty="0" err="1">
                <a:solidFill>
                  <a:srgbClr val="0000FF"/>
                </a:solidFill>
              </a:rPr>
              <a:t>Divide_by</a:t>
            </a:r>
            <a:r>
              <a:rPr lang="en-GB" sz="1800" b="1" dirty="0">
                <a:solidFill>
                  <a:srgbClr val="0000FF"/>
                </a:solidFill>
              </a:rPr>
              <a:t> using a right shift of log2NFIFO bits and delaying the output using a D-Flip-Flop</a:t>
            </a: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72FDD64-3767-3A74-DC14-EFAE83C04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226" y="1313765"/>
            <a:ext cx="6931548" cy="386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907005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67DAF-B471-14D9-1ADD-A549316C4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E43DC-2BB4-BCAF-E799-F62A32AF5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Divide_by</a:t>
            </a:r>
            <a:r>
              <a:rPr lang="it-IT" noProof="0" dirty="0"/>
              <a:t> -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39505-76E3-4370-52CB-B665537E2A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262108-0A02-20C5-ED41-6784D9F635A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E73C62-23B5-7A8E-9FA8-AC6779A26570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 a counter to apply the </a:t>
            </a:r>
            <a:r>
              <a:rPr lang="en-GB" sz="1800" b="1" dirty="0" err="1">
                <a:solidFill>
                  <a:srgbClr val="0000FF"/>
                </a:solidFill>
              </a:rPr>
              <a:t>Divide_by</a:t>
            </a:r>
            <a:r>
              <a:rPr lang="en-GB" sz="1800" b="1" dirty="0">
                <a:solidFill>
                  <a:srgbClr val="0000FF"/>
                </a:solidFill>
              </a:rPr>
              <a:t> to every number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CD388D92-E8FB-947A-B9A9-2CE3E5E6E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60" y="1241193"/>
            <a:ext cx="7239000" cy="349250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88D8BF0-4771-8031-0CA1-B792DF57E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075" y="2769143"/>
            <a:ext cx="4890678" cy="252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135637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A7E5-1B21-A348-A550-2908CBD83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6D618-3296-C7EC-64F6-CCBD8043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Simulation</a:t>
            </a:r>
            <a:r>
              <a:rPr lang="it-IT" noProof="0" dirty="0"/>
              <a:t> </a:t>
            </a:r>
            <a:r>
              <a:rPr lang="it-IT" noProof="0" dirty="0" err="1"/>
              <a:t>result</a:t>
            </a:r>
            <a:r>
              <a:rPr lang="it-IT" noProof="0" dirty="0"/>
              <a:t> – NFIFO = 32 (log2NFIFO = 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3BEC9-CC7A-255E-32CD-47827488D2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3A348-C771-65E7-15FF-0C220357F1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A45E4-E2DC-D7E1-90EA-2C62DA45211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can see that the result still shows the presence of some noise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6EBBA04-6B70-0A99-5A10-FDC3FDADD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467" y="1223755"/>
            <a:ext cx="9391066" cy="403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921913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96D20-3F36-58CF-2AE3-FE56A007D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FCBDA-37E6-D8D2-149D-726B75148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64 (log2NFIFO = 6)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E2669-C219-AFF1-9276-B2F9ABF395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598ED-E787-E081-8741-5EFFDEFB4ED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E5FA3B-A1A0-B65F-880F-DC3CD5A8497E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64 the resulting sinusoid shows an improvement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0F2F95C9-D336-4B9C-B35D-F6123AE21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186" y="1223755"/>
            <a:ext cx="9421628" cy="4040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715419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3C85A-25D5-1C12-053D-E1EAF073F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2B8B-46AE-23D5-A605-DB562CB8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128 (log2NFIFO = 7)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636B3-100F-A1C8-CA39-0292CED96E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296EC-552C-DA95-437A-5F09F06A886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710E03-EE8A-D043-0C3B-AE951E4F41C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128 the sinusoid is smoother but with more attenuation</a:t>
            </a: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24EFDBD2-324E-2891-CBDC-89BD6D6BFE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438" y="1223755"/>
            <a:ext cx="9403124" cy="396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5964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60573-C13A-3E6D-BBC9-E03140BF9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D7E12-5FE4-6BF6-0F2C-E6165E295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Slide </a:t>
            </a:r>
            <a:r>
              <a:rPr lang="it-IT" noProof="0" dirty="0" err="1"/>
              <a:t>Structure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94474-FC55-4D17-3BA9-681A0993262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47589-45BE-9470-8DA3-938CE157780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E26371-097A-20B0-F174-87B38A787ED2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 </a:t>
            </a:r>
            <a:r>
              <a:rPr lang="en-GB" sz="1800" b="1" dirty="0" err="1">
                <a:solidFill>
                  <a:srgbClr val="0000FF"/>
                </a:solidFill>
              </a:rPr>
              <a:t>text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text</a:t>
            </a: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E67C05-F2DF-B133-1642-E70C45B752EF}"/>
              </a:ext>
            </a:extLst>
          </p:cNvPr>
          <p:cNvSpPr/>
          <p:nvPr/>
        </p:nvSpPr>
        <p:spPr bwMode="auto">
          <a:xfrm>
            <a:off x="3418203" y="1155334"/>
            <a:ext cx="4860540" cy="330878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469900" marR="0" indent="-469900" algn="l" defTabSz="914400" rtl="0" eaLnBrk="1" fontAlgn="base" latinLnBrk="0" hangingPunct="1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Tx/>
              <a:buFont typeface="Wingdings" pitchFamily="2" charset="2"/>
              <a:buChar char="o"/>
              <a:tabLst/>
            </a:pPr>
            <a:endParaRPr kumimoji="0" lang="en-GB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7621907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BB250-1E7D-A6B9-F138-D350FA37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8C872-8531-5A68-5B34-016643A81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Slide </a:t>
            </a:r>
            <a:r>
              <a:rPr lang="it-IT" noProof="0" dirty="0" err="1"/>
              <a:t>Structure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7521F-F33D-40A7-0979-FCC725C357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C51AE-0E5B-D6D9-14B7-330923A5610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9AD392-8F26-681A-E1BC-F2879E87907D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 </a:t>
            </a:r>
            <a:r>
              <a:rPr lang="en-GB" sz="1800" b="1" dirty="0" err="1">
                <a:solidFill>
                  <a:srgbClr val="0000FF"/>
                </a:solidFill>
              </a:rPr>
              <a:t>text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text</a:t>
            </a: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F0A0CD-3364-B24E-1729-FC1990C36303}"/>
              </a:ext>
            </a:extLst>
          </p:cNvPr>
          <p:cNvSpPr/>
          <p:nvPr/>
        </p:nvSpPr>
        <p:spPr bwMode="auto">
          <a:xfrm>
            <a:off x="3418203" y="1155334"/>
            <a:ext cx="4860540" cy="330878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469900" marR="0" indent="-469900" algn="l" defTabSz="914400" rtl="0" eaLnBrk="1" fontAlgn="base" latinLnBrk="0" hangingPunct="1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Tx/>
              <a:buFont typeface="Wingdings" pitchFamily="2" charset="2"/>
              <a:buChar char="o"/>
              <a:tabLst/>
            </a:pPr>
            <a:endParaRPr kumimoji="0" lang="en-GB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52778631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Profile">
  <a:themeElements>
    <a:clrScheme name="Profile 9">
      <a:dk1>
        <a:srgbClr val="000000"/>
      </a:dk1>
      <a:lt1>
        <a:srgbClr val="FFFFFF"/>
      </a:lt1>
      <a:dk2>
        <a:srgbClr val="000000"/>
      </a:dk2>
      <a:lt2>
        <a:srgbClr val="DDDDDD"/>
      </a:lt2>
      <a:accent1>
        <a:srgbClr val="A3B2C1"/>
      </a:accent1>
      <a:accent2>
        <a:srgbClr val="CC0000"/>
      </a:accent2>
      <a:accent3>
        <a:srgbClr val="FFFFFF"/>
      </a:accent3>
      <a:accent4>
        <a:srgbClr val="000000"/>
      </a:accent4>
      <a:accent5>
        <a:srgbClr val="CED5DD"/>
      </a:accent5>
      <a:accent6>
        <a:srgbClr val="B90000"/>
      </a:accent6>
      <a:hlink>
        <a:srgbClr val="336699"/>
      </a:hlink>
      <a:folHlink>
        <a:srgbClr val="003366"/>
      </a:folHlink>
    </a:clrScheme>
    <a:fontScheme name="Profile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lnDef>
  </a:objectDefaults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9A656CF8C467741A56A16B7574AC68E" ma:contentTypeVersion="12" ma:contentTypeDescription="Creare un nuovo documento." ma:contentTypeScope="" ma:versionID="4f27b0f6ef663e5da5bafac1efc6fe9a">
  <xsd:schema xmlns:xsd="http://www.w3.org/2001/XMLSchema" xmlns:xs="http://www.w3.org/2001/XMLSchema" xmlns:p="http://schemas.microsoft.com/office/2006/metadata/properties" xmlns:ns3="d81608ca-db68-4891-9f53-9b89cbfff5c6" xmlns:ns4="be3c09a5-e964-4602-bd74-bbf48e0fabf1" targetNamespace="http://schemas.microsoft.com/office/2006/metadata/properties" ma:root="true" ma:fieldsID="8a6d6b69e42fa993b1c0a33dd1bd5a45" ns3:_="" ns4:_="">
    <xsd:import namespace="d81608ca-db68-4891-9f53-9b89cbfff5c6"/>
    <xsd:import namespace="be3c09a5-e964-4602-bd74-bbf48e0fabf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1608ca-db68-4891-9f53-9b89cbfff5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3c09a5-e964-4602-bd74-bbf48e0fabf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Hash suggerimento condivisione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81608ca-db68-4891-9f53-9b89cbfff5c6" xsi:nil="true"/>
  </documentManagement>
</p:properties>
</file>

<file path=customXml/itemProps1.xml><?xml version="1.0" encoding="utf-8"?>
<ds:datastoreItem xmlns:ds="http://schemas.openxmlformats.org/officeDocument/2006/customXml" ds:itemID="{AC7A1D52-4C7C-4BE2-BA1D-9D952C857E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1608ca-db68-4891-9f53-9b89cbfff5c6"/>
    <ds:schemaRef ds:uri="be3c09a5-e964-4602-bd74-bbf48e0fab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E8D78F2-F211-4F79-8A63-15AEAF64F23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F5952B0-BE3F-4397-8C49-DFA106167C99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dcmitype/"/>
    <ds:schemaRef ds:uri="http://schemas.openxmlformats.org/package/2006/metadata/core-properties"/>
    <ds:schemaRef ds:uri="be3c09a5-e964-4602-bd74-bbf48e0fabf1"/>
    <ds:schemaRef ds:uri="d81608ca-db68-4891-9f53-9b89cbfff5c6"/>
    <ds:schemaRef ds:uri="http://www.w3.org/XML/1998/namespace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10498</TotalTime>
  <Words>413</Words>
  <Application>Microsoft Macintosh PowerPoint</Application>
  <PresentationFormat>Widescreen</PresentationFormat>
  <Paragraphs>102</Paragraphs>
  <Slides>14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1" baseType="lpstr">
      <vt:lpstr>Arial</vt:lpstr>
      <vt:lpstr>Comic Sans MS</vt:lpstr>
      <vt:lpstr>NimbusRomNo9L-Regu</vt:lpstr>
      <vt:lpstr>Times New Roman</vt:lpstr>
      <vt:lpstr>Verdana</vt:lpstr>
      <vt:lpstr>Wingdings</vt:lpstr>
      <vt:lpstr>Profile</vt:lpstr>
      <vt:lpstr> Lorenzo Pina 894396, Simone Rancati 900052</vt:lpstr>
      <vt:lpstr>Final Documentation Report for filter_ma DESIGN</vt:lpstr>
      <vt:lpstr>Introduction</vt:lpstr>
      <vt:lpstr>Design of Multiadder</vt:lpstr>
      <vt:lpstr>Design of Multiadder - Testbench</vt:lpstr>
      <vt:lpstr>Design of Accumulator</vt:lpstr>
      <vt:lpstr>Design of Accumulator – Testbench</vt:lpstr>
      <vt:lpstr>Design of Divide_by</vt:lpstr>
      <vt:lpstr>Design of Divide_by - Testbench</vt:lpstr>
      <vt:lpstr>Simulation result – NFIFO = 32 (log2NFIFO = 5)</vt:lpstr>
      <vt:lpstr>Simulation result – NFIFO = 64 (log2NFIFO = 6)</vt:lpstr>
      <vt:lpstr>Simulation result – NFIFO = 128 (log2NFIFO = 7)</vt:lpstr>
      <vt:lpstr>Slide Structure</vt:lpstr>
      <vt:lpstr>Slide Structure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ali</dc:creator>
  <cp:lastModifiedBy>Simone Rancati</cp:lastModifiedBy>
  <cp:revision>8552</cp:revision>
  <cp:lastPrinted>2022-09-05T12:26:59Z</cp:lastPrinted>
  <dcterms:created xsi:type="dcterms:W3CDTF">2009-04-22T19:24:48Z</dcterms:created>
  <dcterms:modified xsi:type="dcterms:W3CDTF">2026-06-12T16:49:33Z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0x01010009A656CF8C467741A56A16B7574AC68E</vt:lpwstr>
  </property>
</Properties>
</file>