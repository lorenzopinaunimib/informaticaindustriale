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22"/>
  </p:notesMasterIdLst>
  <p:handoutMasterIdLst>
    <p:handoutMasterId r:id="rId23"/>
  </p:handoutMasterIdLst>
  <p:sldIdLst>
    <p:sldId id="898" r:id="rId5"/>
    <p:sldId id="1159" r:id="rId6"/>
    <p:sldId id="1129" r:id="rId7"/>
    <p:sldId id="1160" r:id="rId8"/>
    <p:sldId id="1161" r:id="rId9"/>
    <p:sldId id="1162" r:id="rId10"/>
    <p:sldId id="1163" r:id="rId11"/>
    <p:sldId id="1164" r:id="rId12"/>
    <p:sldId id="1165" r:id="rId13"/>
    <p:sldId id="1167" r:id="rId14"/>
    <p:sldId id="1166" r:id="rId15"/>
    <p:sldId id="1168" r:id="rId16"/>
    <p:sldId id="1171" r:id="rId17"/>
    <p:sldId id="1172" r:id="rId18"/>
    <p:sldId id="1173" r:id="rId19"/>
    <p:sldId id="1169" r:id="rId20"/>
    <p:sldId id="1170" r:id="rId21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3399"/>
    <a:srgbClr val="FFCCFF"/>
    <a:srgbClr val="00FF00"/>
    <a:srgbClr val="FFFF66"/>
    <a:srgbClr val="00FFFF"/>
    <a:srgbClr val="FF0066"/>
    <a:srgbClr val="0066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2" autoAdjust="0"/>
    <p:restoredTop sz="95759" autoAdjust="0"/>
  </p:normalViewPr>
  <p:slideViewPr>
    <p:cSldViewPr snapToObjects="1">
      <p:cViewPr varScale="1">
        <p:scale>
          <a:sx n="99" d="100"/>
          <a:sy n="99" d="100"/>
        </p:scale>
        <p:origin x="90" y="342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Lorenzo Pina 894396, Simone Rancati 900052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l.pina4@campus.unimib.it, s.rancati8@campus.unimib.it</a:t>
            </a:r>
            <a:endParaRPr lang="it-IT" sz="1500" b="1" i="0" u="none" strike="noStrike" baseline="0" dirty="0">
              <a:solidFill>
                <a:srgbClr val="0000FF"/>
              </a:solidFill>
              <a:latin typeface="NimbusRomNo9L-Regu"/>
            </a:endParaRP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3FF97-18AA-652C-ABE4-4249A1BC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8E3B-8185-A5AA-39EC-BBEC33D79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en-US" dirty="0"/>
              <a:t>Final Documentation Report for </a:t>
            </a:r>
            <a:r>
              <a:rPr lang="en-US" i="1" dirty="0" err="1"/>
              <a:t>filter_ma</a:t>
            </a:r>
            <a:r>
              <a:rPr lang="en-US" i="1" dirty="0"/>
              <a:t> </a:t>
            </a:r>
            <a:r>
              <a:rPr lang="en-US" dirty="0"/>
              <a:t>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CE6ED-0253-25B3-AEEE-B4F71ECCA4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AC0F6-22C9-C243-54F7-285BD364FD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32B80-8E7D-CC35-0BFA-2F7A8CA6A1D4}"/>
              </a:ext>
            </a:extLst>
          </p:cNvPr>
          <p:cNvSpPr txBox="1"/>
          <p:nvPr/>
        </p:nvSpPr>
        <p:spPr>
          <a:xfrm>
            <a:off x="0" y="1442061"/>
            <a:ext cx="11791310" cy="4462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Introduction (1 slide)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Scheme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Main I/O Signals and Parameters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Design of </a:t>
            </a:r>
            <a:r>
              <a:rPr lang="en-US" sz="2400" b="1" dirty="0" err="1"/>
              <a:t>Multiadder</a:t>
            </a:r>
            <a:r>
              <a:rPr lang="en-US" sz="2400" b="1" dirty="0"/>
              <a:t>, Accumulator e </a:t>
            </a:r>
            <a:r>
              <a:rPr lang="en-US" sz="2400" b="1" dirty="0" err="1"/>
              <a:t>divide_by</a:t>
            </a:r>
            <a:r>
              <a:rPr lang="en-US" sz="2400" b="1" dirty="0"/>
              <a:t> (max 6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Testbenches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Final Simulation Results for NFIFO=32, 64, 128 in VIVADO (max 10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Frequency Response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Time Domain Evolution of </a:t>
            </a:r>
            <a:r>
              <a:rPr lang="en-US" dirty="0" err="1"/>
              <a:t>ysignal+ynoise</a:t>
            </a:r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Time Domain Evolution </a:t>
            </a:r>
            <a:r>
              <a:rPr lang="en-US" dirty="0"/>
              <a:t>o</a:t>
            </a:r>
            <a:r>
              <a:rPr lang="en-US" noProof="0" dirty="0"/>
              <a:t>f </a:t>
            </a:r>
            <a:r>
              <a:rPr lang="en-US" noProof="0" dirty="0" err="1"/>
              <a:t>ynoise</a:t>
            </a:r>
            <a:endParaRPr lang="en-US" noProof="0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Signal to Noise Ratio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Final Table Resume and Comments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Conclusions (any idea about improvements?)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32726103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Introduction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9723-69E5-36E2-BC85-D6337C05C9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ABD52-B62D-45EE-E9CB-5374F6194AAE}"/>
              </a:ext>
            </a:extLst>
          </p:cNvPr>
          <p:cNvSpPr txBox="1"/>
          <p:nvPr/>
        </p:nvSpPr>
        <p:spPr>
          <a:xfrm>
            <a:off x="766232" y="391795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Filter_MA</a:t>
            </a:r>
            <a:r>
              <a:rPr lang="en-GB" sz="1800" b="1" dirty="0">
                <a:solidFill>
                  <a:srgbClr val="0000FF"/>
                </a:solidFill>
              </a:rPr>
              <a:t> uses </a:t>
            </a:r>
            <a:r>
              <a:rPr lang="en-GB" sz="1800" b="1" dirty="0" err="1">
                <a:solidFill>
                  <a:srgbClr val="0000FF"/>
                </a:solidFill>
              </a:rPr>
              <a:t>datain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</a:t>
            </a:r>
            <a:r>
              <a:rPr lang="en-GB" sz="1800" b="1" dirty="0">
                <a:solidFill>
                  <a:srgbClr val="0000FF"/>
                </a:solidFill>
              </a:rPr>
              <a:t> as input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and output signals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Other signals are used internally to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communicate between components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parameters used are </a:t>
            </a:r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and log2NFIFO</a:t>
            </a:r>
          </a:p>
          <a:p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= bit resolution of signal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log2NFIFO = number of elements in the FIFO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B2342F2-74E5-D67A-68CB-6C1C65461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84" y="1313765"/>
            <a:ext cx="4509005" cy="468138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68B671-E4AF-080B-ED57-3E7BCDC4A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45" y="1223755"/>
            <a:ext cx="5187950" cy="251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6AB58-9ACB-F2FF-E142-DA3E63D9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50D6E-EADB-4187-31D9-E0B9DA53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856E-12C4-7D16-86C3-2743563A73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0EDEE-0F4C-4094-FAA2-8E7A3E30D3C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B4D83-6EAE-3E2D-AACF-200FF2E54A27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mask0 to extend </a:t>
            </a:r>
            <a:r>
              <a:rPr lang="en-GB" sz="1800" b="1" dirty="0" err="1">
                <a:solidFill>
                  <a:srgbClr val="0000FF"/>
                </a:solidFill>
              </a:rPr>
              <a:t>datain_fifo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dataout_fifo</a:t>
            </a:r>
            <a:r>
              <a:rPr lang="en-GB" sz="1800" b="1" dirty="0">
                <a:solidFill>
                  <a:srgbClr val="0000FF"/>
                </a:solidFill>
              </a:rPr>
              <a:t> to Nb+log2NFIFO-1 bits</a:t>
            </a: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calculate the sum of the last NFIFO elements by taking the last result (saved in the accumulator), removing the last element and adding the new one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DC37987-972B-7544-8479-BAA3D85A9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351051"/>
            <a:ext cx="7772400" cy="2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879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96A5-E325-643C-B1CC-8820369F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E7EF9-D17C-CF98-9A36-E9465E504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3B5D2-CFB5-D990-904D-D16C264C4E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46F03-E00C-8C6E-5322-CC9568A7C4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B0B5D-19DA-82ED-EF26-D071AB2296D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doing some math operations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FFA73B26-E455-BD4A-63D5-59474C799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894" y="2081690"/>
            <a:ext cx="5943600" cy="25146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41E863B-CDD6-1BF5-082F-1F84835B7F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50" y="1223755"/>
            <a:ext cx="3671444" cy="423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435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9FB1C-8C28-53BF-D04B-62B091F9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12F-CEA1-9A61-D8A7-CCBC65F3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6ED3-07BC-153F-5F7F-1EF73F72FA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805C7-CAD6-85F6-13E5-FF1F71EF74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943B5-BEF0-7378-94A6-B0E756A3CEFB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used a D-Flip-Flop to delay the result of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a clock tick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Accumulator resets when the reset signal is 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EC15E6-0109-95CF-131B-78DFE3B12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6" y="1620939"/>
            <a:ext cx="5104726" cy="326166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550A10F-769A-A986-3103-87D0A1425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020" y="1223755"/>
            <a:ext cx="4788616" cy="40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88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7CDBC-9034-6D35-484C-A8663F59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3DC2-1D1D-45C3-6110-9126C118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 –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0E782-D160-F998-A09C-25BA0D8745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25A64-9099-22C1-BCC1-BE503345CB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8637-529E-E7B9-A393-679B124AEC83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Accumulator using a counter and seeing if the output is delayed by a clock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699DD4E-573B-332A-36D6-D2C2C1C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5" y="1306341"/>
            <a:ext cx="7082110" cy="315777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CB55ECE-F388-AD68-7389-84093D343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007" y="2933945"/>
            <a:ext cx="5715635" cy="218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95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D7FC-4F8C-4AF4-31A8-32F06DB4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EBB1-DAAC-FF6F-33D7-65288677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1CEAC-1E85-792D-96F1-2D619FEA0D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5382-4CF9-267A-DBC2-24759A4C81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CFF33-5A56-E598-663E-D0C76B5D9E98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implement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using a right shift of log2NFIFO bits and delaying the output using a D-Flip-Flop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72FDD64-3767-3A74-DC14-EFAE83C0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226" y="1313765"/>
            <a:ext cx="6931548" cy="386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0700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7DAF-B471-14D9-1ADD-A549316C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E43DC-2BB4-BCAF-E799-F62A32AF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39505-76E3-4370-52CB-B665537E2A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62108-0A02-20C5-ED41-6784D9F635A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73C62-23B5-7A8E-9FA8-AC6779A2657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a counter to apply the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to every number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D388D92-E8FB-947A-B9A9-2CE3E5E6E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60" y="1241193"/>
            <a:ext cx="7239000" cy="34925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88D8BF0-4771-8031-0CA1-B792DF57E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75" y="2769143"/>
            <a:ext cx="4890678" cy="252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3563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A7E5-1B21-A348-A550-2908CBD8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6D618-3296-C7EC-64F6-CCBD8043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BEC9-CC7A-255E-32CD-47827488D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A348-C771-65E7-15FF-0C220357F1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A45E4-E2DC-D7E1-90EA-2C62DA45211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BBA04-6B70-0A99-5A10-FDC3FDADD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467" y="1223755"/>
            <a:ext cx="9391066" cy="40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91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96D20-3F36-58CF-2AE3-FE56A007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CBDA-37E6-D8D2-149D-726B7514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E2669-C219-AFF1-9276-B2F9ABF39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598ED-E787-E081-8741-5EFFDEFB4E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5FA3B-A1A0-B65F-880F-DC3CD5A8497E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F2F95C9-D336-4B9C-B35D-F6123AE217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86" y="1223755"/>
            <a:ext cx="9421628" cy="404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15419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C85A-25D5-1C12-053D-E1EAF073F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2B8B-46AE-23D5-A605-DB562CB8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636B3-100F-A1C8-CA39-0292CED96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296EC-552C-DA95-437A-5F09F06A8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710E03-EE8A-D043-0C3B-AE951E4F41C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4EFDBD2-324E-2891-CBDC-89BD6D6BFE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38" y="1223755"/>
            <a:ext cx="9403124" cy="396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5964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8C3B0-B6B6-3F92-9305-C2B4E5A8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6E48-8387-6BCB-BF8D-56ACB5282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74522-E8B0-70B0-B932-82F42093A8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4019-9D64-296F-1FD9-0468375AAF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F6F672-B692-6245-5E7B-3440D884778A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826024C8-C8A0-DBD6-117E-4EB915FE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1309391"/>
            <a:ext cx="9907383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20999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86F1-6BA8-268E-D00B-46879C6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FAF2D-6426-E7A3-054E-A5C07687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39260-F85E-6E00-E201-B9001902CF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C386D-22CB-BCB0-8129-92CF1D2517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775FE-AE2A-581C-255C-EF6A1BA819A1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3B6D1FA-64DD-899E-8F46-28F7546B8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490" y="1299865"/>
            <a:ext cx="8897592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190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4395A-E7A7-7562-F0B9-C70598639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1C81D-AB13-15EF-F93D-F165E383B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AC632-F172-6335-3FF2-2D47F8BA16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6CDE1-2C8B-7A15-3198-6A32E0FB9E7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12A7C-03AE-92CA-6850-BD794E5A8C83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746CE43-2847-F04A-FACD-5889677F8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967" y="1399892"/>
            <a:ext cx="8888065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15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60573-C13A-3E6D-BBC9-E03140BF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7E12-5FE4-6BF6-0F2C-E6165E295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Slide </a:t>
            </a:r>
            <a:r>
              <a:rPr lang="it-IT" noProof="0" dirty="0" err="1"/>
              <a:t>Structure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94474-FC55-4D17-3BA9-681A099326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589-45BE-9470-8DA3-938CE15778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E26371-097A-20B0-F174-87B38A787ED2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E67C05-F2DF-B133-1642-E70C45B752EF}"/>
              </a:ext>
            </a:extLst>
          </p:cNvPr>
          <p:cNvSpPr/>
          <p:nvPr/>
        </p:nvSpPr>
        <p:spPr bwMode="auto">
          <a:xfrm>
            <a:off x="3418203" y="1155334"/>
            <a:ext cx="4860540" cy="33087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6219075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BB250-1E7D-A6B9-F138-D350FA37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8C872-8531-5A68-5B34-016643A81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Slide </a:t>
            </a:r>
            <a:r>
              <a:rPr lang="it-IT" noProof="0" dirty="0" err="1"/>
              <a:t>Structure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7521F-F33D-40A7-0979-FCC725C357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C51AE-0E5B-D6D9-14B7-330923A5610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9AD392-8F26-681A-E1BC-F2879E87907D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F0A0CD-3364-B24E-1729-FC1990C36303}"/>
              </a:ext>
            </a:extLst>
          </p:cNvPr>
          <p:cNvSpPr/>
          <p:nvPr/>
        </p:nvSpPr>
        <p:spPr bwMode="auto">
          <a:xfrm>
            <a:off x="3418203" y="1155334"/>
            <a:ext cx="4860540" cy="33087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2778631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be3c09a5-e964-4602-bd74-bbf48e0fabf1"/>
    <ds:schemaRef ds:uri="d81608ca-db68-4891-9f53-9b89cbfff5c6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10513</TotalTime>
  <Words>484</Words>
  <Application>Microsoft Office PowerPoint</Application>
  <PresentationFormat>Widescreen</PresentationFormat>
  <Paragraphs>123</Paragraphs>
  <Slides>17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4" baseType="lpstr">
      <vt:lpstr>Arial</vt:lpstr>
      <vt:lpstr>Comic Sans MS</vt:lpstr>
      <vt:lpstr>NimbusRomNo9L-Regu</vt:lpstr>
      <vt:lpstr>Times New Roman</vt:lpstr>
      <vt:lpstr>Verdana</vt:lpstr>
      <vt:lpstr>Wingdings</vt:lpstr>
      <vt:lpstr>Profile</vt:lpstr>
      <vt:lpstr> Lorenzo Pina 894396, Simone Rancati 900052</vt:lpstr>
      <vt:lpstr>Final Documentation Report for filter_ma DESIGN</vt:lpstr>
      <vt:lpstr>Introduction</vt:lpstr>
      <vt:lpstr>Design of Multiadder</vt:lpstr>
      <vt:lpstr>Design of Multiadder - Testbench</vt:lpstr>
      <vt:lpstr>Design of Accumulator</vt:lpstr>
      <vt:lpstr>Design of Accumulator – Testbench</vt:lpstr>
      <vt:lpstr>Design of Divide_by</vt:lpstr>
      <vt:lpstr>Design of Divide_by - Testbench</vt:lpstr>
      <vt:lpstr>Simulation result – NFIFO = 32 (log2NFIFO = 5)</vt:lpstr>
      <vt:lpstr>Simulation result – NFIFO = 64 (log2NFIFO = 6)</vt:lpstr>
      <vt:lpstr>Simulation result – NFIFO = 128 (log2NFIFO = 7)</vt:lpstr>
      <vt:lpstr>Simulation result – NFIFO = 32 (log2NFIFO = 5)</vt:lpstr>
      <vt:lpstr>Simulation result – NFIFO = 64 (log2NFIFO = 6)</vt:lpstr>
      <vt:lpstr>Simulation result – NFIFO = 128 (log2NFIFO = 7)</vt:lpstr>
      <vt:lpstr>Slide Structure</vt:lpstr>
      <vt:lpstr>Slide 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l.pina4@campus.unimib.it</cp:lastModifiedBy>
  <cp:revision>8553</cp:revision>
  <cp:lastPrinted>2022-09-05T12:26:59Z</cp:lastPrinted>
  <dcterms:created xsi:type="dcterms:W3CDTF">2009-04-22T19:24:48Z</dcterms:created>
  <dcterms:modified xsi:type="dcterms:W3CDTF">2026-06-12T19:12:50Z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