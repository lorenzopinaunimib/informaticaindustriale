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bookmarkIdSeed="10">
  <p:sldMasterIdLst>
    <p:sldMasterId id="2147483688" r:id="rId4"/>
  </p:sldMasterIdLst>
  <p:notesMasterIdLst>
    <p:notesMasterId r:id="rId24"/>
  </p:notesMasterIdLst>
  <p:handoutMasterIdLst>
    <p:handoutMasterId r:id="rId25"/>
  </p:handoutMasterIdLst>
  <p:sldIdLst>
    <p:sldId id="898" r:id="rId5"/>
    <p:sldId id="1159" r:id="rId6"/>
    <p:sldId id="1129" r:id="rId7"/>
    <p:sldId id="1160" r:id="rId8"/>
    <p:sldId id="1161" r:id="rId9"/>
    <p:sldId id="1162" r:id="rId10"/>
    <p:sldId id="1163" r:id="rId11"/>
    <p:sldId id="1164" r:id="rId12"/>
    <p:sldId id="1165" r:id="rId13"/>
    <p:sldId id="1167" r:id="rId14"/>
    <p:sldId id="1166" r:id="rId15"/>
    <p:sldId id="1168" r:id="rId16"/>
    <p:sldId id="1171" r:id="rId17"/>
    <p:sldId id="1172" r:id="rId18"/>
    <p:sldId id="1173" r:id="rId19"/>
    <p:sldId id="1169" r:id="rId20"/>
    <p:sldId id="1174" r:id="rId21"/>
    <p:sldId id="1170" r:id="rId22"/>
    <p:sldId id="1175" r:id="rId23"/>
  </p:sldIdLst>
  <p:sldSz cx="12192000" cy="6858000"/>
  <p:notesSz cx="6946900" cy="100584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5pPr>
    <a:lvl6pPr marL="2286000" algn="l" defTabSz="914400" rtl="0" eaLnBrk="1" latinLnBrk="0" hangingPunct="1"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6pPr>
    <a:lvl7pPr marL="2743200" algn="l" defTabSz="914400" rtl="0" eaLnBrk="1" latinLnBrk="0" hangingPunct="1"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7pPr>
    <a:lvl8pPr marL="3200400" algn="l" defTabSz="914400" rtl="0" eaLnBrk="1" latinLnBrk="0" hangingPunct="1"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8pPr>
    <a:lvl9pPr marL="3657600" algn="l" defTabSz="914400" rtl="0" eaLnBrk="1" latinLnBrk="0" hangingPunct="1"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86" userDrawn="1">
          <p15:clr>
            <a:srgbClr val="A4A3A4"/>
          </p15:clr>
        </p15:guide>
        <p15:guide id="2" pos="7167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69">
          <p15:clr>
            <a:srgbClr val="A4A3A4"/>
          </p15:clr>
        </p15:guide>
        <p15:guide id="2" pos="2187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Xichen Li" initials="XL" lastIdx="9" clrIdx="0">
    <p:extLst>
      <p:ext uri="{19B8F6BF-5375-455C-9EA6-DF929625EA0E}">
        <p15:presenceInfo xmlns:p15="http://schemas.microsoft.com/office/powerpoint/2012/main" userId="45f28ff92f64b984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00FF"/>
    <a:srgbClr val="FF3399"/>
    <a:srgbClr val="FFCCFF"/>
    <a:srgbClr val="00FF00"/>
    <a:srgbClr val="FFFF66"/>
    <a:srgbClr val="00FFFF"/>
    <a:srgbClr val="FF0066"/>
    <a:srgbClr val="0066FF"/>
    <a:srgbClr val="CC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72" autoAdjust="0"/>
    <p:restoredTop sz="95759" autoAdjust="0"/>
  </p:normalViewPr>
  <p:slideViewPr>
    <p:cSldViewPr snapToObjects="1">
      <p:cViewPr varScale="1">
        <p:scale>
          <a:sx n="111" d="100"/>
          <a:sy n="111" d="100"/>
        </p:scale>
        <p:origin x="534" y="96"/>
      </p:cViewPr>
      <p:guideLst>
        <p:guide orient="horz" pos="686"/>
        <p:guide pos="7167"/>
      </p:guideLst>
    </p:cSldViewPr>
  </p:slideViewPr>
  <p:outlineViewPr>
    <p:cViewPr>
      <p:scale>
        <a:sx n="25" d="100"/>
        <a:sy n="25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sorterViewPr>
    <p:cViewPr>
      <p:scale>
        <a:sx n="110" d="100"/>
        <a:sy n="110" d="100"/>
      </p:scale>
      <p:origin x="0" y="0"/>
    </p:cViewPr>
  </p:sorterViewPr>
  <p:notesViewPr>
    <p:cSldViewPr snapToObjects="1">
      <p:cViewPr varScale="1">
        <p:scale>
          <a:sx n="66" d="100"/>
          <a:sy n="66" d="100"/>
        </p:scale>
        <p:origin x="4086" y="54"/>
      </p:cViewPr>
      <p:guideLst>
        <p:guide orient="horz" pos="3169"/>
        <p:guide pos="2187"/>
      </p:guideLst>
    </p:cSldViewPr>
  </p:notesViewPr>
  <p:gridSpacing cx="45005" cy="45005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commentAuthors" Target="commentAuthor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09900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t" anchorCtr="0" compatLnSpc="1">
            <a:prstTxWarp prst="textNoShape">
              <a:avLst/>
            </a:prstTxWarp>
          </a:bodyPr>
          <a:lstStyle>
            <a:lvl1pPr defTabSz="946150">
              <a:lnSpc>
                <a:spcPct val="100000"/>
              </a:lnSpc>
              <a:spcBef>
                <a:spcPct val="0"/>
              </a:spcBef>
              <a:buClrTx/>
              <a:buFontTx/>
              <a:buNone/>
              <a:defRPr kumimoji="1" sz="1200">
                <a:latin typeface="Times New Roman" pitchFamily="18" charset="0"/>
                <a:ea typeface="ＭＳ Ｐゴシック" pitchFamily="50" charset="-128"/>
                <a:cs typeface="+mn-cs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937000" y="0"/>
            <a:ext cx="3009900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t" anchorCtr="0" compatLnSpc="1">
            <a:prstTxWarp prst="textNoShape">
              <a:avLst/>
            </a:prstTxWarp>
          </a:bodyPr>
          <a:lstStyle>
            <a:lvl1pPr algn="r" defTabSz="946150">
              <a:lnSpc>
                <a:spcPct val="100000"/>
              </a:lnSpc>
              <a:spcBef>
                <a:spcPct val="0"/>
              </a:spcBef>
              <a:buClrTx/>
              <a:buFontTx/>
              <a:buNone/>
              <a:defRPr kumimoji="1" sz="1200">
                <a:latin typeface="Times New Roman" pitchFamily="18" charset="0"/>
                <a:ea typeface="ＭＳ Ｐゴシック" pitchFamily="50" charset="-128"/>
                <a:cs typeface="+mn-cs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819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555163"/>
            <a:ext cx="3009900" cy="5032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b" anchorCtr="0" compatLnSpc="1">
            <a:prstTxWarp prst="textNoShape">
              <a:avLst/>
            </a:prstTxWarp>
          </a:bodyPr>
          <a:lstStyle>
            <a:lvl1pPr defTabSz="946150">
              <a:lnSpc>
                <a:spcPct val="100000"/>
              </a:lnSpc>
              <a:spcBef>
                <a:spcPct val="0"/>
              </a:spcBef>
              <a:buClrTx/>
              <a:buFontTx/>
              <a:buNone/>
              <a:defRPr kumimoji="1" sz="1200">
                <a:latin typeface="Times New Roman" pitchFamily="18" charset="0"/>
                <a:ea typeface="ＭＳ Ｐゴシック" pitchFamily="50" charset="-128"/>
                <a:cs typeface="+mn-cs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819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937000" y="9555163"/>
            <a:ext cx="3009900" cy="5032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b" anchorCtr="0" compatLnSpc="1">
            <a:prstTxWarp prst="textNoShape">
              <a:avLst/>
            </a:prstTxWarp>
          </a:bodyPr>
          <a:lstStyle>
            <a:lvl1pPr algn="r" defTabSz="946150">
              <a:defRPr kumimoji="1" sz="1200">
                <a:latin typeface="Times New Roman" panose="02020603050405020304" pitchFamily="18" charset="0"/>
              </a:defRPr>
            </a:lvl1pPr>
          </a:lstStyle>
          <a:p>
            <a:fld id="{D95DEC9B-2CEC-4405-ADE4-D0456C051506}" type="slidenum">
              <a:rPr lang="en-US" altLang="ja-JP"/>
              <a:pPr/>
              <a:t>‹N›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51767046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90850" cy="473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t" anchorCtr="0" compatLnSpc="1">
            <a:prstTxWarp prst="textNoShape">
              <a:avLst/>
            </a:prstTxWarp>
          </a:bodyPr>
          <a:lstStyle>
            <a:lvl1pPr defTabSz="946150">
              <a:lnSpc>
                <a:spcPct val="100000"/>
              </a:lnSpc>
              <a:spcBef>
                <a:spcPct val="0"/>
              </a:spcBef>
              <a:buClrTx/>
              <a:buFontTx/>
              <a:buNone/>
              <a:defRPr kumimoji="1" sz="1200">
                <a:latin typeface="Arial" charset="0"/>
                <a:ea typeface="ＭＳ Ｐゴシック" pitchFamily="50" charset="-128"/>
                <a:cs typeface="+mn-cs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932238" y="0"/>
            <a:ext cx="2989262" cy="473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t" anchorCtr="0" compatLnSpc="1">
            <a:prstTxWarp prst="textNoShape">
              <a:avLst/>
            </a:prstTxWarp>
          </a:bodyPr>
          <a:lstStyle>
            <a:lvl1pPr algn="r" defTabSz="946150">
              <a:lnSpc>
                <a:spcPct val="100000"/>
              </a:lnSpc>
              <a:spcBef>
                <a:spcPct val="0"/>
              </a:spcBef>
              <a:buClrTx/>
              <a:buFontTx/>
              <a:buNone/>
              <a:defRPr kumimoji="1" sz="1200">
                <a:latin typeface="Arial" charset="0"/>
                <a:ea typeface="ＭＳ Ｐゴシック" pitchFamily="50" charset="-128"/>
                <a:cs typeface="+mn-cs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286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749300" y="177800"/>
            <a:ext cx="5446713" cy="306387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922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61925" y="3351213"/>
            <a:ext cx="6623050" cy="6099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altLang="ja-JP" noProof="0"/>
          </a:p>
        </p:txBody>
      </p:sp>
      <p:sp>
        <p:nvSpPr>
          <p:cNvPr id="922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544050"/>
            <a:ext cx="2990850" cy="552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b" anchorCtr="0" compatLnSpc="1">
            <a:prstTxWarp prst="textNoShape">
              <a:avLst/>
            </a:prstTxWarp>
          </a:bodyPr>
          <a:lstStyle>
            <a:lvl1pPr defTabSz="946150">
              <a:lnSpc>
                <a:spcPct val="100000"/>
              </a:lnSpc>
              <a:spcBef>
                <a:spcPct val="0"/>
              </a:spcBef>
              <a:buClrTx/>
              <a:buFontTx/>
              <a:buNone/>
              <a:defRPr kumimoji="1" sz="1200">
                <a:latin typeface="Arial" charset="0"/>
                <a:ea typeface="ＭＳ Ｐゴシック" pitchFamily="50" charset="-128"/>
                <a:cs typeface="+mn-cs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922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32238" y="9544050"/>
            <a:ext cx="2989262" cy="552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b" anchorCtr="0" compatLnSpc="1">
            <a:prstTxWarp prst="textNoShape">
              <a:avLst/>
            </a:prstTxWarp>
          </a:bodyPr>
          <a:lstStyle>
            <a:lvl1pPr algn="r" defTabSz="946150">
              <a:defRPr kumimoji="1" sz="1200">
                <a:latin typeface="Arial" panose="020B0604020202020204" pitchFamily="34" charset="0"/>
              </a:defRPr>
            </a:lvl1pPr>
          </a:lstStyle>
          <a:p>
            <a:fld id="{D6B6717F-986F-4A3F-9037-B1B1D8AD583E}" type="slidenum">
              <a:rPr lang="en-US" altLang="ja-JP"/>
              <a:pPr/>
              <a:t>‹N›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274438525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600" b="1" kern="1200">
        <a:solidFill>
          <a:schemeClr val="tx1"/>
        </a:solidFill>
        <a:latin typeface="Arial" charset="0"/>
        <a:ea typeface="HG丸ｺﾞｼｯｸM-PRO" pitchFamily="50" charset="-128"/>
        <a:cs typeface="+mn-cs"/>
      </a:defRPr>
    </a:lvl1pPr>
    <a:lvl2pPr marL="742950" indent="-28575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MS PMincho" pitchFamily="18" charset="-128"/>
        <a:cs typeface="+mn-cs"/>
      </a:defRPr>
    </a:lvl2pPr>
    <a:lvl3pPr marL="1143000" indent="-228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MS PMincho" pitchFamily="18" charset="-128"/>
        <a:cs typeface="+mn-cs"/>
      </a:defRPr>
    </a:lvl3pPr>
    <a:lvl4pPr marL="1600200" indent="-228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MS PMincho" pitchFamily="18" charset="-128"/>
        <a:cs typeface="+mn-cs"/>
      </a:defRPr>
    </a:lvl4pPr>
    <a:lvl5pPr marL="2057400" indent="-228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MS PMincho" pitchFamily="18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6B6717F-986F-4A3F-9037-B1B1D8AD583E}" type="slidenum">
              <a:rPr lang="en-US" altLang="ja-JP" smtClean="0"/>
              <a:pPr/>
              <a:t>1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6728703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7"/>
          <p:cNvSpPr>
            <a:spLocks noChangeArrowheads="1"/>
          </p:cNvSpPr>
          <p:nvPr/>
        </p:nvSpPr>
        <p:spPr bwMode="auto">
          <a:xfrm>
            <a:off x="914400" y="3339557"/>
            <a:ext cx="10363200" cy="109538"/>
          </a:xfrm>
          <a:custGeom>
            <a:avLst/>
            <a:gdLst>
              <a:gd name="T0" fmla="*/ 0 w 1000"/>
              <a:gd name="T1" fmla="*/ 0 h 1000"/>
              <a:gd name="T2" fmla="*/ 2147483647 w 1000"/>
              <a:gd name="T3" fmla="*/ 0 h 1000"/>
              <a:gd name="T4" fmla="*/ 2147483647 w 1000"/>
              <a:gd name="T5" fmla="*/ 2147483647 h 1000"/>
              <a:gd name="T6" fmla="*/ 0 w 1000"/>
              <a:gd name="T7" fmla="*/ 2147483647 h 1000"/>
              <a:gd name="T8" fmla="*/ 0 w 1000"/>
              <a:gd name="T9" fmla="*/ 0 h 1000"/>
              <a:gd name="T10" fmla="*/ 2147483647 w 1000"/>
              <a:gd name="T11" fmla="*/ 0 h 100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1000" h="1000" stroke="0">
                <a:moveTo>
                  <a:pt x="0" y="0"/>
                </a:moveTo>
                <a:lnTo>
                  <a:pt x="618" y="0"/>
                </a:lnTo>
                <a:lnTo>
                  <a:pt x="618" y="1000"/>
                </a:lnTo>
                <a:lnTo>
                  <a:pt x="0" y="1000"/>
                </a:lnTo>
                <a:lnTo>
                  <a:pt x="0" y="0"/>
                </a:lnTo>
                <a:close/>
              </a:path>
              <a:path w="1000" h="1000">
                <a:moveTo>
                  <a:pt x="0" y="0"/>
                </a:moveTo>
                <a:lnTo>
                  <a:pt x="1000" y="0"/>
                </a:lnTo>
              </a:path>
            </a:pathLst>
          </a:custGeom>
          <a:solidFill>
            <a:schemeClr val="accent2"/>
          </a:solidFill>
          <a:ln w="9525">
            <a:solidFill>
              <a:schemeClr val="accent2"/>
            </a:solidFill>
            <a:round/>
            <a:headEnd/>
            <a:tailEnd/>
          </a:ln>
        </p:spPr>
        <p:txBody>
          <a:bodyPr/>
          <a:lstStyle/>
          <a:p>
            <a:endParaRPr lang="en-CA" sz="2000"/>
          </a:p>
        </p:txBody>
      </p:sp>
      <p:sp>
        <p:nvSpPr>
          <p:cNvPr id="136499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914400" y="990600"/>
            <a:ext cx="10363200" cy="137160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64995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930400" y="3429000"/>
            <a:ext cx="9347200" cy="2635766"/>
          </a:xfrm>
        </p:spPr>
        <p:txBody>
          <a:bodyPr/>
          <a:lstStyle>
            <a:lvl1pPr marL="0" indent="0">
              <a:buFont typeface="Wingdings" pitchFamily="2" charset="2"/>
              <a:buNone/>
              <a:defRPr sz="2800"/>
            </a:lvl1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995585382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A" dirty="0"/>
          </a:p>
        </p:txBody>
      </p:sp>
      <p:sp>
        <p:nvSpPr>
          <p:cNvPr id="5" name="Slide Number Placeholder 10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2E6AEE32-87CF-4B18-ACD9-DC92317905A5}" type="slidenum">
              <a:rPr lang="en-US" altLang="en-US" smtClean="0"/>
              <a:pPr/>
              <a:t>‹N›</a:t>
            </a:fld>
            <a:endParaRPr lang="en-US" altLang="en-US" dirty="0"/>
          </a:p>
        </p:txBody>
      </p:sp>
      <p:sp>
        <p:nvSpPr>
          <p:cNvPr id="6" name="Footer Placeholder 11"/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sz="1400" b="1">
                <a:latin typeface="Comic Sans MS" panose="030F0702030302020204" pitchFamily="66" charset="0"/>
              </a:defRPr>
            </a:lvl1pPr>
          </a:lstStyle>
          <a:p>
            <a:pPr>
              <a:defRPr/>
            </a:pPr>
            <a:endParaRPr lang="en-US" dirty="0">
              <a:solidFill>
                <a:srgbClr val="0000FF"/>
              </a:solidFill>
            </a:endParaRPr>
          </a:p>
        </p:txBody>
      </p:sp>
      <p:pic>
        <p:nvPicPr>
          <p:cNvPr id="4" name="Picture 3" descr="A picture containing art, graphics, line, triangle&#10;&#10;Description automatically generated">
            <a:extLst>
              <a:ext uri="{FF2B5EF4-FFF2-40B4-BE49-F238E27FC236}">
                <a16:creationId xmlns:a16="http://schemas.microsoft.com/office/drawing/2014/main" id="{80FB6A95-E479-121B-BCF2-A197FB93F1B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3" y="5943788"/>
            <a:ext cx="766647" cy="82691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4F60219-CCBB-558E-09C1-CD961B584888}"/>
              </a:ext>
            </a:extLst>
          </p:cNvPr>
          <p:cNvSpPr txBox="1"/>
          <p:nvPr userDrawn="1"/>
        </p:nvSpPr>
        <p:spPr>
          <a:xfrm>
            <a:off x="755651" y="6354325"/>
            <a:ext cx="255205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1200" b="1" dirty="0">
                <a:solidFill>
                  <a:srgbClr val="FF0000"/>
                </a:solidFill>
                <a:latin typeface="Comic Sans MS" panose="030F0702030302020204" pitchFamily="66" charset="0"/>
              </a:rPr>
              <a:t>INFORMATICA INDUSTRIALE</a:t>
            </a:r>
          </a:p>
          <a:p>
            <a:pPr algn="ctr">
              <a:defRPr/>
            </a:pPr>
            <a:r>
              <a:rPr lang="en-US" sz="1200" b="1" dirty="0">
                <a:solidFill>
                  <a:srgbClr val="0000FF"/>
                </a:solidFill>
                <a:latin typeface="Comic Sans MS" panose="030F0702030302020204" pitchFamily="66" charset="0"/>
              </a:rPr>
              <a:t>email@unimib.it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8339A5-0ED6-D609-7369-31F0EB80C236}"/>
              </a:ext>
            </a:extLst>
          </p:cNvPr>
          <p:cNvSpPr txBox="1"/>
          <p:nvPr userDrawn="1"/>
        </p:nvSpPr>
        <p:spPr>
          <a:xfrm>
            <a:off x="5465930" y="6354325"/>
            <a:ext cx="609432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altLang="en-US" sz="2000" b="1" dirty="0">
                <a:solidFill>
                  <a:srgbClr val="00B050"/>
                </a:solidFill>
                <a:latin typeface="Comic Sans MS" panose="030F0702030302020204" pitchFamily="66" charset="0"/>
              </a:rPr>
              <a:t>FPGA Design – Digital </a:t>
            </a:r>
            <a:r>
              <a:rPr lang="it-IT" altLang="en-US" sz="2000" b="1" dirty="0" err="1">
                <a:solidFill>
                  <a:srgbClr val="00B050"/>
                </a:solidFill>
                <a:latin typeface="Comic Sans MS" panose="030F0702030302020204" pitchFamily="66" charset="0"/>
              </a:rPr>
              <a:t>Signals</a:t>
            </a:r>
            <a:endParaRPr lang="en-GB" altLang="en-US" sz="2000" b="1" dirty="0">
              <a:solidFill>
                <a:srgbClr val="00B050"/>
              </a:solidFill>
              <a:latin typeface="Comic Sans MS" panose="030F07020303020202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7282236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7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Rectangle 8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30875EF-C2EB-41B9-9120-4F34CB1DDB5F}" type="slidenum">
              <a:rPr lang="en-US" altLang="en-US" smtClean="0"/>
              <a:pPr/>
              <a:t>‹N›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400703208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55651" y="1333500"/>
            <a:ext cx="5232400" cy="46863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1251" y="1333500"/>
            <a:ext cx="5232400" cy="46863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Author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170ECB4-3ED6-47B4-92E1-16EDC40A6A2B}" type="slidenum">
              <a:rPr lang="en-US" altLang="en-US"/>
              <a:pPr/>
              <a:t>‹N›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28400324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6800" y="223200"/>
            <a:ext cx="7970400" cy="720000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CA" dirty="0"/>
          </a:p>
        </p:txBody>
      </p:sp>
      <p:sp>
        <p:nvSpPr>
          <p:cNvPr id="4" name="Rectangle 7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" name="Rectangle 8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A32AD43-E5B6-4C0C-B28F-4F3BDC35F92C}" type="slidenum">
              <a:rPr lang="en-US" altLang="en-US" smtClean="0"/>
              <a:pPr/>
              <a:t>‹N›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105861582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766233" y="222381"/>
            <a:ext cx="7971367" cy="7205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755651" y="1333500"/>
            <a:ext cx="10668000" cy="43061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1028" name="AutoShape 4"/>
          <p:cNvSpPr>
            <a:spLocks noChangeArrowheads="1"/>
          </p:cNvSpPr>
          <p:nvPr/>
        </p:nvSpPr>
        <p:spPr bwMode="auto">
          <a:xfrm>
            <a:off x="812800" y="989013"/>
            <a:ext cx="10610851" cy="109537"/>
          </a:xfrm>
          <a:custGeom>
            <a:avLst/>
            <a:gdLst>
              <a:gd name="T0" fmla="*/ 0 w 1000"/>
              <a:gd name="T1" fmla="*/ 0 h 1000"/>
              <a:gd name="T2" fmla="*/ 2147483647 w 1000"/>
              <a:gd name="T3" fmla="*/ 0 h 1000"/>
              <a:gd name="T4" fmla="*/ 2147483647 w 1000"/>
              <a:gd name="T5" fmla="*/ 2147483647 h 1000"/>
              <a:gd name="T6" fmla="*/ 0 w 1000"/>
              <a:gd name="T7" fmla="*/ 2147483647 h 1000"/>
              <a:gd name="T8" fmla="*/ 0 w 1000"/>
              <a:gd name="T9" fmla="*/ 0 h 1000"/>
              <a:gd name="T10" fmla="*/ 2147483647 w 1000"/>
              <a:gd name="T11" fmla="*/ 0 h 100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1000" h="1000" stroke="0">
                <a:moveTo>
                  <a:pt x="0" y="0"/>
                </a:moveTo>
                <a:lnTo>
                  <a:pt x="585" y="0"/>
                </a:lnTo>
                <a:lnTo>
                  <a:pt x="585" y="1000"/>
                </a:lnTo>
                <a:lnTo>
                  <a:pt x="0" y="1000"/>
                </a:lnTo>
                <a:lnTo>
                  <a:pt x="0" y="0"/>
                </a:lnTo>
                <a:close/>
              </a:path>
              <a:path w="1000" h="1000">
                <a:moveTo>
                  <a:pt x="0" y="0"/>
                </a:moveTo>
                <a:lnTo>
                  <a:pt x="1000" y="0"/>
                </a:lnTo>
              </a:path>
            </a:pathLst>
          </a:custGeom>
          <a:solidFill>
            <a:schemeClr val="accent2"/>
          </a:solidFill>
          <a:ln w="9525">
            <a:solidFill>
              <a:schemeClr val="accent2"/>
            </a:solidFill>
            <a:round/>
            <a:headEnd/>
            <a:tailEnd/>
          </a:ln>
        </p:spPr>
        <p:txBody>
          <a:bodyPr/>
          <a:lstStyle/>
          <a:p>
            <a:endParaRPr lang="en-CA" sz="2000"/>
          </a:p>
        </p:txBody>
      </p:sp>
      <p:sp>
        <p:nvSpPr>
          <p:cNvPr id="1029" name="Line 5"/>
          <p:cNvSpPr>
            <a:spLocks noChangeShapeType="1"/>
          </p:cNvSpPr>
          <p:nvPr/>
        </p:nvSpPr>
        <p:spPr bwMode="auto">
          <a:xfrm flipV="1">
            <a:off x="812800" y="6309320"/>
            <a:ext cx="10566400" cy="0"/>
          </a:xfrm>
          <a:prstGeom prst="line">
            <a:avLst/>
          </a:prstGeom>
          <a:noFill/>
          <a:ln w="3175">
            <a:solidFill>
              <a:schemeClr val="accent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CA" sz="2000"/>
          </a:p>
        </p:txBody>
      </p:sp>
      <p:sp>
        <p:nvSpPr>
          <p:cNvPr id="1363974" name="Rectangle 6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812800" y="6373130"/>
            <a:ext cx="2641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00000"/>
              </a:lnSpc>
              <a:spcBef>
                <a:spcPct val="0"/>
              </a:spcBef>
              <a:buClrTx/>
              <a:buFontTx/>
              <a:buNone/>
              <a:defRPr sz="1200">
                <a:ea typeface="ＭＳ Ｐゴシック" pitchFamily="50" charset="-128"/>
                <a:cs typeface="+mn-cs"/>
              </a:defRPr>
            </a:lvl1pPr>
          </a:lstStyle>
          <a:p>
            <a:pPr>
              <a:defRPr/>
            </a:pPr>
            <a:r>
              <a:rPr lang="en-US" dirty="0"/>
              <a:t>Author</a:t>
            </a:r>
          </a:p>
        </p:txBody>
      </p:sp>
      <p:sp>
        <p:nvSpPr>
          <p:cNvPr id="1363975" name="Rectangle 7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373130"/>
            <a:ext cx="38608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lnSpc>
                <a:spcPct val="100000"/>
              </a:lnSpc>
              <a:spcBef>
                <a:spcPct val="0"/>
              </a:spcBef>
              <a:buClrTx/>
              <a:buFontTx/>
              <a:buNone/>
              <a:defRPr sz="1200">
                <a:ea typeface="ＭＳ Ｐゴシック" pitchFamily="50" charset="-128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363976" name="Rectangle 8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373130"/>
            <a:ext cx="2641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2669A0AA-7294-4E49-A360-EB85DE381848}" type="slidenum">
              <a:rPr lang="en-US" altLang="en-US"/>
              <a:pPr/>
              <a:t>‹N›</a:t>
            </a:fld>
            <a:r>
              <a:rPr lang="en-US" altLang="en-US" dirty="0"/>
              <a:t> of 70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086" r:id="rId1"/>
    <p:sldLayoutId id="2147484087" r:id="rId2"/>
    <p:sldLayoutId id="2147484079" r:id="rId3"/>
    <p:sldLayoutId id="2147484088" r:id="rId4"/>
    <p:sldLayoutId id="2147484080" r:id="rId5"/>
  </p:sldLayoutIdLst>
  <p:transition/>
  <p:hf hd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0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Verdana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Verdana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Verdana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Verdana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Verdana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Verdana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Verdana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Verdana" pitchFamily="34" charset="0"/>
        </a:defRPr>
      </a:lvl9pPr>
    </p:titleStyle>
    <p:bodyStyle>
      <a:lvl1pPr marL="469900" indent="-46990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o"/>
        <a:defRPr sz="3000">
          <a:solidFill>
            <a:schemeClr val="tx1"/>
          </a:solidFill>
          <a:latin typeface="+mn-lt"/>
          <a:ea typeface="+mn-ea"/>
          <a:cs typeface="+mn-cs"/>
        </a:defRPr>
      </a:lvl1pPr>
      <a:lvl2pPr marL="908050" indent="-436563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n"/>
        <a:defRPr sz="2600">
          <a:solidFill>
            <a:schemeClr val="tx1"/>
          </a:solidFill>
          <a:latin typeface="+mn-lt"/>
        </a:defRPr>
      </a:lvl2pPr>
      <a:lvl3pPr marL="1304925" indent="-395288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o"/>
        <a:defRPr sz="2300">
          <a:solidFill>
            <a:schemeClr val="tx1"/>
          </a:solidFill>
          <a:latin typeface="+mn-lt"/>
        </a:defRPr>
      </a:lvl3pPr>
      <a:lvl4pPr marL="1693863" indent="-38735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n"/>
        <a:defRPr sz="2000">
          <a:solidFill>
            <a:schemeClr val="tx1"/>
          </a:solidFill>
          <a:latin typeface="+mn-lt"/>
        </a:defRPr>
      </a:lvl4pPr>
      <a:lvl5pPr marL="2093913" indent="-398463" algn="l" rtl="0" eaLnBrk="0" fontAlgn="base" hangingPunct="0">
        <a:spcBef>
          <a:spcPct val="25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§"/>
        <a:defRPr sz="2000">
          <a:solidFill>
            <a:schemeClr val="tx1"/>
          </a:solidFill>
          <a:latin typeface="+mn-lt"/>
        </a:defRPr>
      </a:lvl5pPr>
      <a:lvl6pPr marL="2551113" indent="-398463" algn="l" rtl="0" fontAlgn="base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6pPr>
      <a:lvl7pPr marL="3008313" indent="-398463" algn="l" rtl="0" fontAlgn="base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7pPr>
      <a:lvl8pPr marL="3465513" indent="-398463" algn="l" rtl="0" fontAlgn="base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8pPr>
      <a:lvl9pPr marL="3922713" indent="-398463" algn="l" rtl="0" fontAlgn="base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C030536-D6A3-FCE3-120C-737C116148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399" y="1583795"/>
            <a:ext cx="10537195" cy="1371600"/>
          </a:xfrm>
        </p:spPr>
        <p:txBody>
          <a:bodyPr/>
          <a:lstStyle/>
          <a:p>
            <a:br>
              <a:rPr lang="en-GB" altLang="en-US" sz="2400" b="1" dirty="0"/>
            </a:br>
            <a:r>
              <a:rPr lang="en-GB" altLang="en-US" sz="2400" b="1" dirty="0"/>
              <a:t>Lorenzo Pina 894396, Simone Rancati 900052</a:t>
            </a:r>
            <a:endParaRPr lang="en-GB" altLang="en-US" sz="2400" dirty="0"/>
          </a:p>
        </p:txBody>
      </p:sp>
      <p:pic>
        <p:nvPicPr>
          <p:cNvPr id="9" name="Picture 8" descr="A picture containing art, graphics, line, triangle&#10;&#10;Description automatically generated">
            <a:extLst>
              <a:ext uri="{FF2B5EF4-FFF2-40B4-BE49-F238E27FC236}">
                <a16:creationId xmlns:a16="http://schemas.microsoft.com/office/drawing/2014/main" id="{248F0F6B-6FF7-0BDC-4633-8BF6DF0E1A8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6470" y="4914165"/>
            <a:ext cx="1440160" cy="1553377"/>
          </a:xfrm>
          <a:prstGeom prst="rect">
            <a:avLst/>
          </a:prstGeom>
        </p:spPr>
      </p:pic>
      <p:sp>
        <p:nvSpPr>
          <p:cNvPr id="3" name="Subtitle 7">
            <a:extLst>
              <a:ext uri="{FF2B5EF4-FFF2-40B4-BE49-F238E27FC236}">
                <a16:creationId xmlns:a16="http://schemas.microsoft.com/office/drawing/2014/main" id="{4501EFC6-D762-8243-D017-B6D989F073E7}"/>
              </a:ext>
            </a:extLst>
          </p:cNvPr>
          <p:cNvSpPr txBox="1">
            <a:spLocks/>
          </p:cNvSpPr>
          <p:nvPr/>
        </p:nvSpPr>
        <p:spPr bwMode="auto">
          <a:xfrm>
            <a:off x="920426" y="2901533"/>
            <a:ext cx="10891209" cy="40614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None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08050" indent="-436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n"/>
              <a:defRPr sz="2600">
                <a:solidFill>
                  <a:schemeClr val="tx1"/>
                </a:solidFill>
                <a:latin typeface="+mn-lt"/>
              </a:defRPr>
            </a:lvl2pPr>
            <a:lvl3pPr marL="1304925" indent="-39528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o"/>
              <a:defRPr sz="2300">
                <a:solidFill>
                  <a:schemeClr val="tx1"/>
                </a:solidFill>
                <a:latin typeface="+mn-lt"/>
              </a:defRPr>
            </a:lvl3pPr>
            <a:lvl4pPr marL="1693863" indent="-3873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+mn-lt"/>
              </a:defRPr>
            </a:lvl4pPr>
            <a:lvl5pPr marL="2093913" indent="-398463" algn="l" rtl="0" eaLnBrk="0" fontAlgn="base" hangingPunct="0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5pPr>
            <a:lvl6pPr marL="2551113" indent="-398463" algn="l" rtl="0" fontAlgn="base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6pPr>
            <a:lvl7pPr marL="3008313" indent="-398463" algn="l" rtl="0" fontAlgn="base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7pPr>
            <a:lvl8pPr marL="3465513" indent="-398463" algn="l" rtl="0" fontAlgn="base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8pPr>
            <a:lvl9pPr marL="3922713" indent="-398463" algn="l" rtl="0" fontAlgn="base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it-IT" altLang="en-US" sz="2000" kern="0" dirty="0"/>
              <a:t>Informatica Industriale</a:t>
            </a:r>
            <a:endParaRPr lang="en-US" sz="2600" kern="0" dirty="0"/>
          </a:p>
        </p:txBody>
      </p:sp>
      <p:pic>
        <p:nvPicPr>
          <p:cNvPr id="4" name="Picture 3" descr="A logo with a gold and blue text&#10;&#10;Description automatically generated with medium confidence">
            <a:extLst>
              <a:ext uri="{FF2B5EF4-FFF2-40B4-BE49-F238E27FC236}">
                <a16:creationId xmlns:a16="http://schemas.microsoft.com/office/drawing/2014/main" id="{140A5226-4D66-DB39-6D5D-E593DD2B678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61197" y="5010689"/>
            <a:ext cx="2017820" cy="1360328"/>
          </a:xfrm>
          <a:prstGeom prst="rect">
            <a:avLst/>
          </a:prstGeom>
        </p:spPr>
      </p:pic>
      <p:sp>
        <p:nvSpPr>
          <p:cNvPr id="5" name="Subtitle 7">
            <a:extLst>
              <a:ext uri="{FF2B5EF4-FFF2-40B4-BE49-F238E27FC236}">
                <a16:creationId xmlns:a16="http://schemas.microsoft.com/office/drawing/2014/main" id="{7FEB1B2F-A930-2425-989C-37A3A776ED3F}"/>
              </a:ext>
            </a:extLst>
          </p:cNvPr>
          <p:cNvSpPr txBox="1">
            <a:spLocks/>
          </p:cNvSpPr>
          <p:nvPr/>
        </p:nvSpPr>
        <p:spPr bwMode="auto">
          <a:xfrm>
            <a:off x="920426" y="5010689"/>
            <a:ext cx="10891209" cy="3985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None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08050" indent="-436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n"/>
              <a:defRPr sz="2600">
                <a:solidFill>
                  <a:schemeClr val="tx1"/>
                </a:solidFill>
                <a:latin typeface="+mn-lt"/>
              </a:defRPr>
            </a:lvl2pPr>
            <a:lvl3pPr marL="1304925" indent="-39528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o"/>
              <a:defRPr sz="2300">
                <a:solidFill>
                  <a:schemeClr val="tx1"/>
                </a:solidFill>
                <a:latin typeface="+mn-lt"/>
              </a:defRPr>
            </a:lvl3pPr>
            <a:lvl4pPr marL="1693863" indent="-3873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+mn-lt"/>
              </a:defRPr>
            </a:lvl4pPr>
            <a:lvl5pPr marL="2093913" indent="-398463" algn="l" rtl="0" eaLnBrk="0" fontAlgn="base" hangingPunct="0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5pPr>
            <a:lvl6pPr marL="2551113" indent="-398463" algn="l" rtl="0" fontAlgn="base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6pPr>
            <a:lvl7pPr marL="3008313" indent="-398463" algn="l" rtl="0" fontAlgn="base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7pPr>
            <a:lvl8pPr marL="3465513" indent="-398463" algn="l" rtl="0" fontAlgn="base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8pPr>
            <a:lvl9pPr marL="3922713" indent="-398463" algn="l" rtl="0" fontAlgn="base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it-IT" sz="1500" b="1" dirty="0">
                <a:solidFill>
                  <a:srgbClr val="0000FF"/>
                </a:solidFill>
                <a:latin typeface="NimbusRomNo9L-Regu"/>
              </a:rPr>
              <a:t>l.pina4@campus.unimib.it, s.rancati8@campus.unimib.it</a:t>
            </a:r>
            <a:endParaRPr lang="it-IT" sz="1500" b="1" i="0" u="none" strike="noStrike" baseline="0" dirty="0">
              <a:solidFill>
                <a:srgbClr val="0000FF"/>
              </a:solidFill>
              <a:latin typeface="NimbusRomNo9L-Regu"/>
            </a:endParaRPr>
          </a:p>
          <a:p>
            <a:pPr algn="ctr"/>
            <a:endParaRPr lang="it-IT" sz="1500" b="0" i="0" u="none" strike="noStrike" baseline="0" dirty="0">
              <a:latin typeface="NimbusRomNo9L-Regu"/>
            </a:endParaRPr>
          </a:p>
          <a:p>
            <a:r>
              <a:rPr lang="it-IT" sz="1500" b="0" i="0" u="none" strike="noStrike" baseline="0" dirty="0" err="1">
                <a:latin typeface="NimbusRomNo9L-Regu"/>
              </a:rPr>
              <a:t>Microelectronics</a:t>
            </a:r>
            <a:r>
              <a:rPr lang="it-IT" sz="1500" b="0" i="0" u="none" strike="noStrike" baseline="0" dirty="0">
                <a:latin typeface="NimbusRomNo9L-Regu"/>
              </a:rPr>
              <a:t> Group</a:t>
            </a:r>
            <a:br>
              <a:rPr lang="pl-PL" altLang="en-US" sz="1500" kern="0" dirty="0"/>
            </a:br>
            <a:endParaRPr lang="en-US" sz="1500" kern="0" dirty="0"/>
          </a:p>
        </p:txBody>
      </p:sp>
      <p:pic>
        <p:nvPicPr>
          <p:cNvPr id="6" name="Picture 5" descr="A blue circuit board with black background&#10;&#10;AI-generated content may be incorrect.">
            <a:extLst>
              <a:ext uri="{FF2B5EF4-FFF2-40B4-BE49-F238E27FC236}">
                <a16:creationId xmlns:a16="http://schemas.microsoft.com/office/drawing/2014/main" id="{1CFD4DE1-0AC0-CE25-563B-C4BB22276B4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42625" y="64349"/>
            <a:ext cx="3975037" cy="3975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1379926"/>
      </p:ext>
    </p:extLst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3FF97-18AA-652C-ABE4-4249A1BC7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F8E3B-8185-A5AA-39EC-BBEC33D79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410" y="222381"/>
            <a:ext cx="11406589" cy="720596"/>
          </a:xfrm>
        </p:spPr>
        <p:txBody>
          <a:bodyPr/>
          <a:lstStyle/>
          <a:p>
            <a:r>
              <a:rPr lang="en-US" dirty="0"/>
              <a:t>Final Documentation Report for </a:t>
            </a:r>
            <a:r>
              <a:rPr lang="en-US" i="1" dirty="0" err="1"/>
              <a:t>filter_ma</a:t>
            </a:r>
            <a:r>
              <a:rPr lang="en-US" i="1" dirty="0"/>
              <a:t> </a:t>
            </a:r>
            <a:r>
              <a:rPr lang="en-US" dirty="0"/>
              <a:t>DESIGN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4CE6ED-0253-25B3-AEEE-B4F71ECCA45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2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2AC0F6-22C9-C243-54F7-285BD364FDC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E32B80-8E7D-CC35-0BFA-2F7A8CA6A1D4}"/>
              </a:ext>
            </a:extLst>
          </p:cNvPr>
          <p:cNvSpPr txBox="1"/>
          <p:nvPr/>
        </p:nvSpPr>
        <p:spPr>
          <a:xfrm>
            <a:off x="0" y="1442061"/>
            <a:ext cx="11791310" cy="44627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2400" b="1" noProof="0" dirty="0"/>
              <a:t>Introduction (1 slide)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dirty="0"/>
              <a:t>Scheme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noProof="0" dirty="0"/>
              <a:t>Main I/O Signals and Parameters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2400" b="1" noProof="0" dirty="0"/>
              <a:t>Design of </a:t>
            </a:r>
            <a:r>
              <a:rPr lang="en-US" sz="2400" b="1" dirty="0" err="1"/>
              <a:t>Multiadder</a:t>
            </a:r>
            <a:r>
              <a:rPr lang="en-US" sz="2400" b="1" dirty="0"/>
              <a:t>, Accumulator e </a:t>
            </a:r>
            <a:r>
              <a:rPr lang="en-US" sz="2400" b="1" dirty="0" err="1"/>
              <a:t>divide_by</a:t>
            </a:r>
            <a:r>
              <a:rPr lang="en-US" sz="2400" b="1" dirty="0"/>
              <a:t> (max 6 slides)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noProof="0" dirty="0"/>
              <a:t>Testbenches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2400" b="1" dirty="0"/>
              <a:t>Final Simulation Results for NFIFO=32, 64, 128 in VIVADO (max 10 slides)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noProof="0" dirty="0"/>
              <a:t>Frequency Response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dirty="0"/>
              <a:t>Time Domain Evolution of </a:t>
            </a:r>
            <a:r>
              <a:rPr lang="en-US" dirty="0" err="1"/>
              <a:t>ysignal+ynoise</a:t>
            </a:r>
            <a:endParaRPr lang="en-US" dirty="0"/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noProof="0" dirty="0"/>
              <a:t>Time Domain Evolution </a:t>
            </a:r>
            <a:r>
              <a:rPr lang="en-US" dirty="0"/>
              <a:t>o</a:t>
            </a:r>
            <a:r>
              <a:rPr lang="en-US" noProof="0" dirty="0"/>
              <a:t>f </a:t>
            </a:r>
            <a:r>
              <a:rPr lang="en-US" noProof="0" dirty="0" err="1"/>
              <a:t>ynoise</a:t>
            </a:r>
            <a:endParaRPr lang="en-US" noProof="0" dirty="0"/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dirty="0"/>
              <a:t>Signal to Noise Ratio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2400" b="1" noProof="0" dirty="0"/>
              <a:t>Final Table Resume and Comments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2400" b="1" dirty="0"/>
              <a:t>Conclusions (any idea about improvements?)</a:t>
            </a:r>
            <a:endParaRPr lang="en-US" sz="2400" b="1" noProof="0" dirty="0"/>
          </a:p>
        </p:txBody>
      </p:sp>
    </p:spTree>
    <p:extLst>
      <p:ext uri="{BB962C8B-B14F-4D97-AF65-F5344CB8AC3E}">
        <p14:creationId xmlns:p14="http://schemas.microsoft.com/office/powerpoint/2010/main" val="3272610378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4E872-B632-BC3D-08D6-A564B0EC80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575B7-7E34-3DB2-2A65-301C39B848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noProof="0" dirty="0" err="1"/>
              <a:t>Introduction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0A6D18-756C-142E-58F2-A4C95082111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3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8C9723-69E5-36E2-BC85-D6337C05C9B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5ABD52-B62D-45EE-E9CB-5374F6194AAE}"/>
              </a:ext>
            </a:extLst>
          </p:cNvPr>
          <p:cNvSpPr txBox="1"/>
          <p:nvPr/>
        </p:nvSpPr>
        <p:spPr>
          <a:xfrm>
            <a:off x="766232" y="3917955"/>
            <a:ext cx="1072885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 err="1">
                <a:solidFill>
                  <a:srgbClr val="0000FF"/>
                </a:solidFill>
              </a:rPr>
              <a:t>Filter_MA</a:t>
            </a:r>
            <a:r>
              <a:rPr lang="en-GB" sz="1800" b="1" dirty="0">
                <a:solidFill>
                  <a:srgbClr val="0000FF"/>
                </a:solidFill>
              </a:rPr>
              <a:t> uses </a:t>
            </a:r>
            <a:r>
              <a:rPr lang="en-GB" sz="1800" b="1" dirty="0" err="1">
                <a:solidFill>
                  <a:srgbClr val="0000FF"/>
                </a:solidFill>
              </a:rPr>
              <a:t>datain</a:t>
            </a:r>
            <a:r>
              <a:rPr lang="en-GB" sz="1800" b="1" dirty="0">
                <a:solidFill>
                  <a:srgbClr val="0000FF"/>
                </a:solidFill>
              </a:rPr>
              <a:t> and </a:t>
            </a:r>
            <a:r>
              <a:rPr lang="en-GB" sz="1800" b="1" dirty="0" err="1">
                <a:solidFill>
                  <a:srgbClr val="0000FF"/>
                </a:solidFill>
              </a:rPr>
              <a:t>dataout</a:t>
            </a:r>
            <a:r>
              <a:rPr lang="en-GB" sz="1800" b="1" dirty="0">
                <a:solidFill>
                  <a:srgbClr val="0000FF"/>
                </a:solidFill>
              </a:rPr>
              <a:t> as input</a:t>
            </a:r>
          </a:p>
          <a:p>
            <a:r>
              <a:rPr lang="en-GB" sz="1800" b="1" dirty="0">
                <a:solidFill>
                  <a:srgbClr val="0000FF"/>
                </a:solidFill>
              </a:rPr>
              <a:t>and output signals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Other signals are used internally to</a:t>
            </a:r>
          </a:p>
          <a:p>
            <a:r>
              <a:rPr lang="en-GB" sz="1800" b="1" dirty="0">
                <a:solidFill>
                  <a:srgbClr val="0000FF"/>
                </a:solidFill>
              </a:rPr>
              <a:t>communicate between components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The parameters used are </a:t>
            </a:r>
            <a:r>
              <a:rPr lang="en-GB" sz="1800" b="1" dirty="0" err="1">
                <a:solidFill>
                  <a:srgbClr val="0000FF"/>
                </a:solidFill>
              </a:rPr>
              <a:t>Nbf</a:t>
            </a:r>
            <a:r>
              <a:rPr lang="en-GB" sz="1800" b="1" dirty="0">
                <a:solidFill>
                  <a:srgbClr val="0000FF"/>
                </a:solidFill>
              </a:rPr>
              <a:t> and log2NFIFO</a:t>
            </a:r>
          </a:p>
          <a:p>
            <a:r>
              <a:rPr lang="en-GB" sz="1800" b="1" dirty="0" err="1">
                <a:solidFill>
                  <a:srgbClr val="0000FF"/>
                </a:solidFill>
              </a:rPr>
              <a:t>Nbf</a:t>
            </a:r>
            <a:r>
              <a:rPr lang="en-GB" sz="1800" b="1" dirty="0">
                <a:solidFill>
                  <a:srgbClr val="0000FF"/>
                </a:solidFill>
              </a:rPr>
              <a:t> = bit resolution of signal</a:t>
            </a:r>
          </a:p>
          <a:p>
            <a:r>
              <a:rPr lang="en-GB" sz="1800" b="1" dirty="0">
                <a:solidFill>
                  <a:srgbClr val="0000FF"/>
                </a:solidFill>
              </a:rPr>
              <a:t>log2NFIFO = number of elements in the FIFO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1B2342F2-74E5-D67A-68CB-6C1C654614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6084" y="1313765"/>
            <a:ext cx="4509005" cy="4681381"/>
          </a:xfrm>
          <a:prstGeom prst="rect">
            <a:avLst/>
          </a:prstGeom>
        </p:spPr>
      </p:pic>
      <p:pic>
        <p:nvPicPr>
          <p:cNvPr id="12" name="Immagine 11">
            <a:extLst>
              <a:ext uri="{FF2B5EF4-FFF2-40B4-BE49-F238E27FC236}">
                <a16:creationId xmlns:a16="http://schemas.microsoft.com/office/drawing/2014/main" id="{0E68B671-E4AF-080B-ED57-3E7BCDC4AE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0445" y="1223755"/>
            <a:ext cx="5187950" cy="2518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0349146"/>
      </p:ext>
    </p:extLst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86AB58-9ACB-F2FF-E142-DA3E63D91C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450D6E-EADB-4187-31D9-E0B9DA53AB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noProof="0" dirty="0"/>
              <a:t>Design of </a:t>
            </a:r>
            <a:r>
              <a:rPr lang="it-IT" noProof="0" dirty="0" err="1"/>
              <a:t>Multiadder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36856E-12C4-7D16-86C3-2743563A737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4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00EDEE-0F4C-4094-FAA2-8E7A3E30D3C2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F4B4D83-6EAE-3E2D-AACF-200FF2E54A27}"/>
              </a:ext>
            </a:extLst>
          </p:cNvPr>
          <p:cNvSpPr txBox="1"/>
          <p:nvPr/>
        </p:nvSpPr>
        <p:spPr>
          <a:xfrm>
            <a:off x="766232" y="4464115"/>
            <a:ext cx="1072885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We use mask0 to extend </a:t>
            </a:r>
            <a:r>
              <a:rPr lang="en-GB" sz="1800" b="1" dirty="0" err="1">
                <a:solidFill>
                  <a:srgbClr val="0000FF"/>
                </a:solidFill>
              </a:rPr>
              <a:t>datain_fifo</a:t>
            </a:r>
            <a:r>
              <a:rPr lang="en-GB" sz="1800" b="1" dirty="0">
                <a:solidFill>
                  <a:srgbClr val="0000FF"/>
                </a:solidFill>
              </a:rPr>
              <a:t> and </a:t>
            </a:r>
            <a:r>
              <a:rPr lang="en-GB" sz="1800" b="1" dirty="0" err="1">
                <a:solidFill>
                  <a:srgbClr val="0000FF"/>
                </a:solidFill>
              </a:rPr>
              <a:t>dataout_fifo</a:t>
            </a:r>
            <a:r>
              <a:rPr lang="en-GB" sz="1800" b="1" dirty="0">
                <a:solidFill>
                  <a:srgbClr val="0000FF"/>
                </a:solidFill>
              </a:rPr>
              <a:t> to Nb+log2NFIFO-1 bits</a:t>
            </a:r>
          </a:p>
          <a:p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We calculate the sum of the last NFIFO elements by taking the last result (saved in the accumulator), removing the last element and adding the new one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0DC37987-972B-7544-8479-BAA3D85A94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800" y="1351051"/>
            <a:ext cx="7772400" cy="2945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3187913"/>
      </p:ext>
    </p:extLst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E96A5-E325-643C-B1CC-8820369F1E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8E7EF9-D17C-CF98-9A36-E9465E5049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noProof="0" dirty="0"/>
              <a:t>Design of </a:t>
            </a:r>
            <a:r>
              <a:rPr lang="it-IT" noProof="0" dirty="0" err="1"/>
              <a:t>Multiadder</a:t>
            </a:r>
            <a:r>
              <a:rPr lang="it-IT" noProof="0" dirty="0"/>
              <a:t> - </a:t>
            </a:r>
            <a:r>
              <a:rPr lang="it-IT" noProof="0" dirty="0" err="1"/>
              <a:t>Testbench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C3B5D2-CFB5-D990-904D-D16C264C4E7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5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546F03-E00C-8C6E-5322-CC9568A7C49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3B0B5D-19DA-82ED-EF26-D071AB2296D0}"/>
              </a:ext>
            </a:extLst>
          </p:cNvPr>
          <p:cNvSpPr txBox="1"/>
          <p:nvPr/>
        </p:nvSpPr>
        <p:spPr>
          <a:xfrm>
            <a:off x="766232" y="4464115"/>
            <a:ext cx="1072885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We test the </a:t>
            </a:r>
            <a:r>
              <a:rPr lang="en-GB" sz="1800" b="1" dirty="0" err="1">
                <a:solidFill>
                  <a:srgbClr val="0000FF"/>
                </a:solidFill>
              </a:rPr>
              <a:t>Multiadder</a:t>
            </a:r>
            <a:r>
              <a:rPr lang="en-GB" sz="1800" b="1" dirty="0">
                <a:solidFill>
                  <a:srgbClr val="0000FF"/>
                </a:solidFill>
              </a:rPr>
              <a:t> by doing some math operations</a:t>
            </a:r>
          </a:p>
        </p:txBody>
      </p:sp>
      <p:pic>
        <p:nvPicPr>
          <p:cNvPr id="14" name="Immagine 13">
            <a:extLst>
              <a:ext uri="{FF2B5EF4-FFF2-40B4-BE49-F238E27FC236}">
                <a16:creationId xmlns:a16="http://schemas.microsoft.com/office/drawing/2014/main" id="{FFA73B26-E455-BD4A-63D5-59474C7997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6894" y="2081690"/>
            <a:ext cx="5943600" cy="2514600"/>
          </a:xfrm>
          <a:prstGeom prst="rect">
            <a:avLst/>
          </a:prstGeom>
        </p:spPr>
      </p:pic>
      <p:pic>
        <p:nvPicPr>
          <p:cNvPr id="16" name="Immagine 15">
            <a:extLst>
              <a:ext uri="{FF2B5EF4-FFF2-40B4-BE49-F238E27FC236}">
                <a16:creationId xmlns:a16="http://schemas.microsoft.com/office/drawing/2014/main" id="{541E863B-CDD6-1BF5-082F-1F84835B7F2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450" y="1223755"/>
            <a:ext cx="3671444" cy="4230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3443519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09FB1C-8C28-53BF-D04B-62B091F96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4812F-CEA1-9A61-D8A7-CCBC65F33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noProof="0" dirty="0"/>
              <a:t>Design of Accumulator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156ED3-07BC-153F-5F7F-1EF73F72FAF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6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A805C7-CAD6-85F6-13E5-FF1F71EF741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E2943B5-BEF0-7378-94A6-B0E756A3CEFB}"/>
              </a:ext>
            </a:extLst>
          </p:cNvPr>
          <p:cNvSpPr txBox="1"/>
          <p:nvPr/>
        </p:nvSpPr>
        <p:spPr>
          <a:xfrm>
            <a:off x="766232" y="4464115"/>
            <a:ext cx="1072885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We used a D-Flip-Flop to delay the result of the </a:t>
            </a:r>
            <a:r>
              <a:rPr lang="en-GB" sz="1800" b="1" dirty="0" err="1">
                <a:solidFill>
                  <a:srgbClr val="0000FF"/>
                </a:solidFill>
              </a:rPr>
              <a:t>Multiadder</a:t>
            </a:r>
            <a:r>
              <a:rPr lang="en-GB" sz="1800" b="1" dirty="0">
                <a:solidFill>
                  <a:srgbClr val="0000FF"/>
                </a:solidFill>
              </a:rPr>
              <a:t> by a clock tick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The Accumulator resets when the reset signal is 0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66EC15E6-0109-95CF-131B-78DFE3B126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256" y="1620939"/>
            <a:ext cx="5104726" cy="3261663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D550A10F-769A-A986-3103-87D0A1425F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6020" y="1223755"/>
            <a:ext cx="4788616" cy="4056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738853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E7CDBC-9034-6D35-484C-A8663F59E5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D3DC2-1D1D-45C3-6110-9126C118EE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noProof="0" dirty="0"/>
              <a:t>Design of Accumulator – </a:t>
            </a:r>
            <a:r>
              <a:rPr lang="it-IT" noProof="0" dirty="0" err="1"/>
              <a:t>Testbench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50E782-D160-F998-A09C-25BA0D87455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7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625A64-9099-22C1-BCC1-BE503345CB67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6D8637-529E-E7B9-A393-679B124AEC83}"/>
              </a:ext>
            </a:extLst>
          </p:cNvPr>
          <p:cNvSpPr txBox="1"/>
          <p:nvPr/>
        </p:nvSpPr>
        <p:spPr>
          <a:xfrm>
            <a:off x="766232" y="4464115"/>
            <a:ext cx="1072885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We test the Accumulator using a counter and seeing if the output is delayed by a clock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dirty="0"/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F699DD4E-573B-332A-36D6-D2C2C1CF0A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365" y="1306341"/>
            <a:ext cx="7082110" cy="3157774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9CB55ECE-F388-AD68-7389-84093D3432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2007" y="2933945"/>
            <a:ext cx="5715635" cy="2188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7795333"/>
      </p:ext>
    </p:extLst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AD7FC-4F8C-4AF4-31A8-32F06DB4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8EBB1-DAAC-FF6F-33D7-6528867769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noProof="0" dirty="0"/>
              <a:t>Design of </a:t>
            </a:r>
            <a:r>
              <a:rPr lang="it-IT" noProof="0" dirty="0" err="1"/>
              <a:t>Divide_by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01CEAC-1E85-792D-96F1-2D619FEA0DE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8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2B5382-4CF9-267A-DBC2-24759A4C819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5CFF33-5A56-E598-663E-D0C76B5D9E98}"/>
              </a:ext>
            </a:extLst>
          </p:cNvPr>
          <p:cNvSpPr txBox="1"/>
          <p:nvPr/>
        </p:nvSpPr>
        <p:spPr>
          <a:xfrm>
            <a:off x="766232" y="4464115"/>
            <a:ext cx="1072885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We implement </a:t>
            </a:r>
            <a:r>
              <a:rPr lang="en-GB" sz="1800" b="1" dirty="0" err="1">
                <a:solidFill>
                  <a:srgbClr val="0000FF"/>
                </a:solidFill>
              </a:rPr>
              <a:t>Divide_by</a:t>
            </a:r>
            <a:r>
              <a:rPr lang="en-GB" sz="1800" b="1" dirty="0">
                <a:solidFill>
                  <a:srgbClr val="0000FF"/>
                </a:solidFill>
              </a:rPr>
              <a:t> using a right shift of log2NFIFO bits and delaying the output using a D-Flip-Flop</a:t>
            </a:r>
            <a:endParaRPr lang="en-GB" sz="1800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472FDD64-3767-3A74-DC14-EFAE83C04F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0226" y="1313765"/>
            <a:ext cx="6931548" cy="3867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1907005"/>
      </p:ext>
    </p:extLst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B67DAF-B471-14D9-1ADD-A549316C4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0E43DC-2BB4-BCAF-E799-F62A32AF5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noProof="0" dirty="0"/>
              <a:t>Design of </a:t>
            </a:r>
            <a:r>
              <a:rPr lang="it-IT" noProof="0" dirty="0" err="1"/>
              <a:t>Divide_by</a:t>
            </a:r>
            <a:r>
              <a:rPr lang="it-IT" noProof="0" dirty="0"/>
              <a:t> - </a:t>
            </a:r>
            <a:r>
              <a:rPr lang="it-IT" noProof="0" dirty="0" err="1"/>
              <a:t>Testbench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839505-76E3-4370-52CB-B665537E2AD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9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262108-0A02-20C5-ED41-6784D9F635A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E73C62-23B5-7A8E-9FA8-AC6779A26570}"/>
              </a:ext>
            </a:extLst>
          </p:cNvPr>
          <p:cNvSpPr txBox="1"/>
          <p:nvPr/>
        </p:nvSpPr>
        <p:spPr>
          <a:xfrm>
            <a:off x="766232" y="4464115"/>
            <a:ext cx="1072885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We use a counter to apply the </a:t>
            </a:r>
            <a:r>
              <a:rPr lang="en-GB" sz="1800" b="1" dirty="0" err="1">
                <a:solidFill>
                  <a:srgbClr val="0000FF"/>
                </a:solidFill>
              </a:rPr>
              <a:t>Divide_by</a:t>
            </a:r>
            <a:r>
              <a:rPr lang="en-GB" sz="1800" b="1" dirty="0">
                <a:solidFill>
                  <a:srgbClr val="0000FF"/>
                </a:solidFill>
              </a:rPr>
              <a:t> to every number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CD388D92-E8FB-947A-B9A9-2CE3E5E6E9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360" y="1241193"/>
            <a:ext cx="7239000" cy="3492500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E88D8BF0-4771-8031-0CA1-B792DF57E1C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71075" y="2769143"/>
            <a:ext cx="4890678" cy="2526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9135637"/>
      </p:ext>
    </p:ext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2A7E5-1B21-A348-A550-2908CBD838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96D618-3296-C7EC-64F6-CCBD8043DD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noProof="0" dirty="0" err="1"/>
              <a:t>Simulation</a:t>
            </a:r>
            <a:r>
              <a:rPr lang="it-IT" noProof="0" dirty="0"/>
              <a:t> </a:t>
            </a:r>
            <a:r>
              <a:rPr lang="it-IT" noProof="0" dirty="0" err="1"/>
              <a:t>result</a:t>
            </a:r>
            <a:r>
              <a:rPr lang="it-IT" noProof="0" dirty="0"/>
              <a:t> – NFIFO = 32 (log2NFIFO = 5)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43BEC9-CC7A-255E-32CD-47827488D28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10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23A348-C771-65E7-15FF-0C220357F10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AA45E4-E2DC-D7E1-90EA-2C62DA45211D}"/>
              </a:ext>
            </a:extLst>
          </p:cNvPr>
          <p:cNvSpPr txBox="1"/>
          <p:nvPr/>
        </p:nvSpPr>
        <p:spPr>
          <a:xfrm>
            <a:off x="766232" y="4464115"/>
            <a:ext cx="1072885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We can see that the result still shows the presence of some noise</a:t>
            </a:r>
            <a:endParaRPr lang="en-GB" sz="1800" dirty="0"/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76EBBA04-6B70-0A99-5A10-FDC3FDADD3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0467" y="1223755"/>
            <a:ext cx="9391066" cy="4030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5921913"/>
      </p:ext>
    </p:extLst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96D20-3F36-58CF-2AE3-FE56A007D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1FCBDA-37E6-D8D2-149D-726B75148F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dirty="0" err="1"/>
              <a:t>Simulation</a:t>
            </a:r>
            <a:r>
              <a:rPr lang="it-IT" dirty="0"/>
              <a:t> </a:t>
            </a:r>
            <a:r>
              <a:rPr lang="it-IT" dirty="0" err="1"/>
              <a:t>result</a:t>
            </a:r>
            <a:r>
              <a:rPr lang="it-IT" dirty="0"/>
              <a:t> – NFIFO = 64 (log2NFIFO = 6)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4E2669-C219-AFF1-9276-B2F9ABF395F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11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3598ED-E787-E081-8741-5EFFDEFB4ED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E5FA3B-A1A0-B65F-880F-DC3CD5A8497E}"/>
              </a:ext>
            </a:extLst>
          </p:cNvPr>
          <p:cNvSpPr txBox="1"/>
          <p:nvPr/>
        </p:nvSpPr>
        <p:spPr>
          <a:xfrm>
            <a:off x="766232" y="4464115"/>
            <a:ext cx="1072885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With NFIFO = 64 the resulting sinusoid shows an improvement</a:t>
            </a:r>
            <a:endParaRPr lang="en-GB" sz="1800" dirty="0"/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0F2F95C9-D336-4B9C-B35D-F6123AE217A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5186" y="1223755"/>
            <a:ext cx="9421628" cy="4040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3715419"/>
      </p:ext>
    </p:extLst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03C85A-25D5-1C12-053D-E1EAF073FC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A2B8B-46AE-23D5-A605-DB562CB820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dirty="0" err="1"/>
              <a:t>Simulation</a:t>
            </a:r>
            <a:r>
              <a:rPr lang="it-IT" dirty="0"/>
              <a:t> </a:t>
            </a:r>
            <a:r>
              <a:rPr lang="it-IT" dirty="0" err="1"/>
              <a:t>result</a:t>
            </a:r>
            <a:r>
              <a:rPr lang="it-IT" dirty="0"/>
              <a:t> – NFIFO = 128 (log2NFIFO = 7)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7636B3-100F-A1C8-CA39-0292CED96E7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12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1296EC-552C-DA95-437A-5F09F06A886F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710E03-EE8A-D043-0C3B-AE951E4F41CD}"/>
              </a:ext>
            </a:extLst>
          </p:cNvPr>
          <p:cNvSpPr txBox="1"/>
          <p:nvPr/>
        </p:nvSpPr>
        <p:spPr>
          <a:xfrm>
            <a:off x="766232" y="4464115"/>
            <a:ext cx="1072885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With NFIFO = 128 the sinusoid is smoother but with more attenuation</a:t>
            </a:r>
            <a:endParaRPr lang="en-GB" sz="1800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24EFDBD2-324E-2891-CBDC-89BD6D6BFEB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4438" y="1223755"/>
            <a:ext cx="9403124" cy="3965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0145964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8C3B0-B6B6-3F92-9305-C2B4E5A81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46E48-8387-6BCB-BF8D-56ACB5282D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noProof="0" dirty="0" err="1"/>
              <a:t>Simulation</a:t>
            </a:r>
            <a:r>
              <a:rPr lang="it-IT" noProof="0" dirty="0"/>
              <a:t> </a:t>
            </a:r>
            <a:r>
              <a:rPr lang="it-IT" noProof="0" dirty="0" err="1"/>
              <a:t>result</a:t>
            </a:r>
            <a:r>
              <a:rPr lang="it-IT" noProof="0" dirty="0"/>
              <a:t> – NFIFO = 32 (log2NFIFO = 5)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274522-E8B0-70B0-B932-82F42093A8F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13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464019-9D64-296F-1FD9-0468375AAF8C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F6F672-B692-6245-5E7B-3440D884778A}"/>
              </a:ext>
            </a:extLst>
          </p:cNvPr>
          <p:cNvSpPr txBox="1"/>
          <p:nvPr/>
        </p:nvSpPr>
        <p:spPr>
          <a:xfrm>
            <a:off x="766232" y="4464115"/>
            <a:ext cx="1072885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We can see that the result still shows the presence of some noise</a:t>
            </a:r>
            <a:endParaRPr lang="en-GB" sz="1800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826024C8-C8A0-DBD6-117E-4EB915FEA4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2308" y="1309391"/>
            <a:ext cx="9907383" cy="4239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4209990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7586F1-6BA8-268E-D00B-46879C6C4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9FAF2D-6426-E7A3-054E-A5C07687CB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dirty="0" err="1"/>
              <a:t>Simulation</a:t>
            </a:r>
            <a:r>
              <a:rPr lang="it-IT" dirty="0"/>
              <a:t> </a:t>
            </a:r>
            <a:r>
              <a:rPr lang="it-IT" dirty="0" err="1"/>
              <a:t>result</a:t>
            </a:r>
            <a:r>
              <a:rPr lang="it-IT" dirty="0"/>
              <a:t> – NFIFO = 64 (log2NFIFO = 6)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139260-F85E-6E00-E201-B9001902CFC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14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DC386D-22CB-BCB0-8129-92CF1D251702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F775FE-AE2A-581C-255C-EF6A1BA819A1}"/>
              </a:ext>
            </a:extLst>
          </p:cNvPr>
          <p:cNvSpPr txBox="1"/>
          <p:nvPr/>
        </p:nvSpPr>
        <p:spPr>
          <a:xfrm>
            <a:off x="766232" y="4464115"/>
            <a:ext cx="1072885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With NFIFO = 64 the resulting sinusoid shows an improvement</a:t>
            </a:r>
            <a:endParaRPr lang="en-GB" sz="1800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63B6D1FA-64DD-899E-8F46-28F7546B8D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5490" y="1299865"/>
            <a:ext cx="8897592" cy="4258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2611907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C4395A-E7A7-7562-F0B9-C70598639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F1C81D-AB13-15EF-F93D-F165E383B1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dirty="0" err="1"/>
              <a:t>Simulation</a:t>
            </a:r>
            <a:r>
              <a:rPr lang="it-IT" dirty="0"/>
              <a:t> </a:t>
            </a:r>
            <a:r>
              <a:rPr lang="it-IT" dirty="0" err="1"/>
              <a:t>result</a:t>
            </a:r>
            <a:r>
              <a:rPr lang="it-IT" dirty="0"/>
              <a:t> – NFIFO = 128 (log2NFIFO = 7)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BAC632-F172-6335-3FF2-2D47F8BA162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15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86CDE1-2C8B-7A15-3198-6A32E0FB9E7F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BA12A7C-03AE-92CA-6850-BD794E5A8C83}"/>
              </a:ext>
            </a:extLst>
          </p:cNvPr>
          <p:cNvSpPr txBox="1"/>
          <p:nvPr/>
        </p:nvSpPr>
        <p:spPr>
          <a:xfrm>
            <a:off x="766232" y="4464115"/>
            <a:ext cx="1072885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With NFIFO = 128 the sinusoid is smoother but with more attenuation</a:t>
            </a:r>
            <a:endParaRPr lang="en-GB" sz="1800" dirty="0"/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6746CE43-2847-F04A-FACD-5889677F8C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1967" y="1399892"/>
            <a:ext cx="8888065" cy="4058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44153"/>
      </p:ext>
    </p:extLst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560573-C13A-3E6D-BBC9-E03140BF9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D7E12-5FE4-6BF6-0F2C-E6165E2955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3" y="222381"/>
            <a:ext cx="7971367" cy="720596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/>
          <a:p>
            <a:pPr marL="457200" lvl="1"/>
            <a:r>
              <a:rPr lang="en-US" sz="3000" dirty="0">
                <a:latin typeface="+mj-lt"/>
                <a:ea typeface="+mj-ea"/>
                <a:cs typeface="+mj-cs"/>
              </a:rPr>
              <a:t>Signal to Noise Ratio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0B4FE0A9-9089-44D5-B1DC-C5A8EC9CEB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63" y="1275468"/>
            <a:ext cx="6155666" cy="2835315"/>
          </a:xfrm>
          <a:prstGeom prst="rect">
            <a:avLst/>
          </a:prstGeom>
          <a:noFill/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6E26371-097A-20B0-F174-87B38A787ED2}"/>
              </a:ext>
            </a:extLst>
          </p:cNvPr>
          <p:cNvSpPr txBox="1"/>
          <p:nvPr/>
        </p:nvSpPr>
        <p:spPr bwMode="auto">
          <a:xfrm>
            <a:off x="335360" y="4464114"/>
            <a:ext cx="11088291" cy="15556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/>
          <a:p>
            <a:pPr marL="469900" indent="-469900" eaLnBrk="0" hangingPunct="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o"/>
            </a:pPr>
            <a:r>
              <a:rPr lang="en-US" sz="2400" dirty="0">
                <a:latin typeface="+mn-lt"/>
              </a:rPr>
              <a:t>NFIFO=32  </a:t>
            </a:r>
            <a:r>
              <a:rPr lang="en-US" sz="2400" dirty="0" err="1">
                <a:latin typeface="+mn-lt"/>
              </a:rPr>
              <a:t>rumore</a:t>
            </a:r>
            <a:r>
              <a:rPr lang="en-US" sz="2400" dirty="0">
                <a:latin typeface="+mn-lt"/>
              </a:rPr>
              <a:t> Maggiore, delay </a:t>
            </a:r>
            <a:r>
              <a:rPr lang="en-US" sz="2400" dirty="0" err="1">
                <a:latin typeface="+mn-lt"/>
              </a:rPr>
              <a:t>minore</a:t>
            </a:r>
            <a:r>
              <a:rPr lang="en-US" sz="2400" dirty="0">
                <a:latin typeface="+mn-lt"/>
              </a:rPr>
              <a:t> e </a:t>
            </a:r>
            <a:r>
              <a:rPr lang="en-US" sz="2400" dirty="0" err="1">
                <a:latin typeface="+mn-lt"/>
              </a:rPr>
              <a:t>ampiezza</a:t>
            </a:r>
            <a:r>
              <a:rPr lang="en-US" sz="2400" dirty="0">
                <a:latin typeface="+mn-lt"/>
              </a:rPr>
              <a:t> </a:t>
            </a:r>
            <a:r>
              <a:rPr lang="en-US" sz="2400" dirty="0" err="1">
                <a:latin typeface="+mn-lt"/>
              </a:rPr>
              <a:t>maggiore</a:t>
            </a:r>
            <a:endParaRPr lang="en-US" sz="2400" dirty="0">
              <a:latin typeface="+mn-lt"/>
            </a:endParaRPr>
          </a:p>
          <a:p>
            <a:pPr marL="469900" indent="-469900" eaLnBrk="0" hangingPunct="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o"/>
            </a:pPr>
            <a:r>
              <a:rPr lang="en-US" sz="2400" dirty="0">
                <a:latin typeface="+mn-lt"/>
              </a:rPr>
              <a:t>NFIFO=128 </a:t>
            </a:r>
            <a:r>
              <a:rPr lang="en-US" sz="2400" dirty="0" err="1">
                <a:latin typeface="+mn-lt"/>
              </a:rPr>
              <a:t>rumore</a:t>
            </a:r>
            <a:r>
              <a:rPr lang="en-US" sz="2400" dirty="0">
                <a:latin typeface="+mn-lt"/>
              </a:rPr>
              <a:t> </a:t>
            </a:r>
            <a:r>
              <a:rPr lang="en-US" sz="2400" dirty="0" err="1">
                <a:latin typeface="+mn-lt"/>
              </a:rPr>
              <a:t>minore</a:t>
            </a:r>
            <a:r>
              <a:rPr lang="en-US" sz="2400" dirty="0">
                <a:latin typeface="+mn-lt"/>
              </a:rPr>
              <a:t>, delay Maggiore e </a:t>
            </a:r>
            <a:r>
              <a:rPr lang="en-US" sz="2400" dirty="0" err="1">
                <a:latin typeface="+mn-lt"/>
              </a:rPr>
              <a:t>ampiezza</a:t>
            </a:r>
            <a:r>
              <a:rPr lang="en-US" sz="2400" dirty="0">
                <a:latin typeface="+mn-lt"/>
              </a:rPr>
              <a:t> </a:t>
            </a:r>
            <a:r>
              <a:rPr lang="en-US" sz="2400" dirty="0" err="1">
                <a:latin typeface="+mn-lt"/>
              </a:rPr>
              <a:t>minore</a:t>
            </a:r>
            <a:endParaRPr lang="en-US" sz="2400" dirty="0">
              <a:latin typeface="+mn-lt"/>
            </a:endParaRPr>
          </a:p>
          <a:p>
            <a:pPr marL="469900" indent="-469900" eaLnBrk="0" hangingPunct="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o"/>
            </a:pPr>
            <a:endParaRPr lang="en-US" sz="2400" dirty="0">
              <a:latin typeface="+mn-lt"/>
            </a:endParaRPr>
          </a:p>
        </p:txBody>
      </p:sp>
      <p:sp>
        <p:nvSpPr>
          <p:cNvPr id="14" name="Date Placeholder 4">
            <a:extLst>
              <a:ext uri="{FF2B5EF4-FFF2-40B4-BE49-F238E27FC236}">
                <a16:creationId xmlns:a16="http://schemas.microsoft.com/office/drawing/2014/main" id="{465262E3-B728-A1BE-FFF4-86968E432A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2800" y="6373130"/>
            <a:ext cx="2641600" cy="476250"/>
          </a:xfrm>
        </p:spPr>
        <p:txBody>
          <a:bodyPr/>
          <a:lstStyle/>
          <a:p>
            <a:pPr>
              <a:spcAft>
                <a:spcPts val="600"/>
              </a:spcAft>
              <a:defRPr/>
            </a:pPr>
            <a:r>
              <a:rPr lang="en-US"/>
              <a:t>Author</a:t>
            </a:r>
          </a:p>
        </p:txBody>
      </p:sp>
      <p:sp>
        <p:nvSpPr>
          <p:cNvPr id="16" name="Footer Placeholder 5">
            <a:extLst>
              <a:ext uri="{FF2B5EF4-FFF2-40B4-BE49-F238E27FC236}">
                <a16:creationId xmlns:a16="http://schemas.microsoft.com/office/drawing/2014/main" id="{63509366-86DB-6BF4-B9E1-203D3363AF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65600" y="6373130"/>
            <a:ext cx="3860800" cy="476250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394474-FC55-4D17-3BA9-681A09932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7600" y="6373130"/>
            <a:ext cx="2641600" cy="476250"/>
          </a:xfr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/>
          <a:p>
            <a:pPr>
              <a:spcAft>
                <a:spcPts val="600"/>
              </a:spcAft>
            </a:pPr>
            <a:fld id="{2E6AEE32-87CF-4B18-ACD9-DC92317905A5}" type="slidenum">
              <a:rPr lang="en-US" altLang="en-US" kern="1200">
                <a:latin typeface="Verdana" panose="020B0604030504040204" pitchFamily="34" charset="0"/>
                <a:ea typeface="ＭＳ Ｐゴシック" panose="020B0600070205080204" pitchFamily="34" charset="-128"/>
                <a:cs typeface="+mn-cs"/>
              </a:rPr>
              <a:pPr>
                <a:spcAft>
                  <a:spcPts val="600"/>
                </a:spcAft>
              </a:pPr>
              <a:t>16</a:t>
            </a:fld>
            <a:endParaRPr lang="en-US" altLang="en-US" kern="1200">
              <a:latin typeface="Verdana" panose="020B060403050404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E66ED0CC-FE1D-1D6C-14BC-F43A8C7DED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7029" y="1275467"/>
            <a:ext cx="5667351" cy="2835316"/>
          </a:xfrm>
          <a:prstGeom prst="rect">
            <a:avLst/>
          </a:prstGeom>
        </p:spPr>
      </p:pic>
      <p:sp>
        <p:nvSpPr>
          <p:cNvPr id="10" name="CasellaDiTesto 9">
            <a:extLst>
              <a:ext uri="{FF2B5EF4-FFF2-40B4-BE49-F238E27FC236}">
                <a16:creationId xmlns:a16="http://schemas.microsoft.com/office/drawing/2014/main" id="{4077B367-DCAF-3830-5749-6EAEF5942E47}"/>
              </a:ext>
            </a:extLst>
          </p:cNvPr>
          <p:cNvSpPr txBox="1"/>
          <p:nvPr/>
        </p:nvSpPr>
        <p:spPr>
          <a:xfrm>
            <a:off x="650395" y="1127031"/>
            <a:ext cx="15943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dirty="0"/>
              <a:t>NFIFO= 32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A5D91A2F-2A17-1740-A736-2F4094B230BC}"/>
              </a:ext>
            </a:extLst>
          </p:cNvPr>
          <p:cNvSpPr txBox="1"/>
          <p:nvPr/>
        </p:nvSpPr>
        <p:spPr>
          <a:xfrm>
            <a:off x="10191455" y="1096253"/>
            <a:ext cx="15301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dirty="0"/>
              <a:t>NFIFO=128</a:t>
            </a:r>
          </a:p>
        </p:txBody>
      </p:sp>
    </p:spTree>
    <p:extLst>
      <p:ext uri="{BB962C8B-B14F-4D97-AF65-F5344CB8AC3E}">
        <p14:creationId xmlns:p14="http://schemas.microsoft.com/office/powerpoint/2010/main" val="2176219075"/>
      </p:ext>
    </p:extLst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8D37B5-7A0A-45F2-D5B3-1BFB0096A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5F623A-8395-A763-F053-B908A2725C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noProof="0" dirty="0" err="1"/>
              <a:t>Conclusions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ADA548-7EC7-D191-7B03-AF971A11DA9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17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F1536A-B195-9166-10BD-95C022304BE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428AB67-D0F1-CBC0-3678-4F4E48502E50}"/>
              </a:ext>
            </a:extLst>
          </p:cNvPr>
          <p:cNvSpPr txBox="1"/>
          <p:nvPr/>
        </p:nvSpPr>
        <p:spPr>
          <a:xfrm>
            <a:off x="650343" y="1268760"/>
            <a:ext cx="107288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 err="1">
                <a:solidFill>
                  <a:srgbClr val="0000FF"/>
                </a:solidFill>
              </a:rPr>
              <a:t>Abiamo</a:t>
            </a:r>
            <a:r>
              <a:rPr lang="en-GB" sz="1800" b="1" dirty="0">
                <a:solidFill>
                  <a:srgbClr val="0000FF"/>
                </a:solidFill>
              </a:rPr>
              <a:t> </a:t>
            </a:r>
            <a:r>
              <a:rPr lang="en-GB" sz="1800" b="1" dirty="0" err="1">
                <a:solidFill>
                  <a:srgbClr val="0000FF"/>
                </a:solidFill>
              </a:rPr>
              <a:t>realizzato</a:t>
            </a:r>
            <a:r>
              <a:rPr lang="en-GB" sz="1800" b="1" dirty="0">
                <a:solidFill>
                  <a:srgbClr val="0000FF"/>
                </a:solidFill>
              </a:rPr>
              <a:t> come non sempre un </a:t>
            </a:r>
            <a:r>
              <a:rPr lang="en-GB" sz="1800" b="1" dirty="0" err="1">
                <a:solidFill>
                  <a:srgbClr val="0000FF"/>
                </a:solidFill>
              </a:rPr>
              <a:t>filtraggio</a:t>
            </a:r>
            <a:r>
              <a:rPr lang="en-GB" sz="1800" b="1" dirty="0">
                <a:solidFill>
                  <a:srgbClr val="0000FF"/>
                </a:solidFill>
              </a:rPr>
              <a:t> con minor </a:t>
            </a:r>
            <a:r>
              <a:rPr lang="en-GB" sz="1800" b="1" dirty="0" err="1">
                <a:solidFill>
                  <a:srgbClr val="0000FF"/>
                </a:solidFill>
              </a:rPr>
              <a:t>rumore</a:t>
            </a:r>
            <a:r>
              <a:rPr lang="en-GB" sz="1800" b="1" dirty="0">
                <a:solidFill>
                  <a:srgbClr val="0000FF"/>
                </a:solidFill>
              </a:rPr>
              <a:t> </a:t>
            </a:r>
            <a:r>
              <a:rPr lang="en-GB" sz="1800" b="1" dirty="0" err="1">
                <a:solidFill>
                  <a:srgbClr val="0000FF"/>
                </a:solidFill>
              </a:rPr>
              <a:t>sia</a:t>
            </a:r>
            <a:r>
              <a:rPr lang="en-GB" sz="1800" b="1" dirty="0">
                <a:solidFill>
                  <a:srgbClr val="0000FF"/>
                </a:solidFill>
              </a:rPr>
              <a:t> </a:t>
            </a:r>
            <a:r>
              <a:rPr lang="en-GB" sz="1800" b="1" dirty="0" err="1">
                <a:solidFill>
                  <a:srgbClr val="0000FF"/>
                </a:solidFill>
              </a:rPr>
              <a:t>meglio</a:t>
            </a: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 err="1">
                <a:solidFill>
                  <a:srgbClr val="0000FF"/>
                </a:solidFill>
              </a:rPr>
              <a:t>Modifiche</a:t>
            </a:r>
            <a:r>
              <a:rPr lang="en-GB" sz="1800" b="1" dirty="0">
                <a:solidFill>
                  <a:srgbClr val="0000FF"/>
                </a:solidFill>
              </a:rPr>
              <a:t> </a:t>
            </a:r>
            <a:r>
              <a:rPr lang="en-GB" sz="1800" b="1" dirty="0" err="1">
                <a:solidFill>
                  <a:srgbClr val="0000FF"/>
                </a:solidFill>
              </a:rPr>
              <a:t>apportate</a:t>
            </a:r>
            <a:r>
              <a:rPr lang="en-GB" sz="1800" b="1" dirty="0">
                <a:solidFill>
                  <a:srgbClr val="0000FF"/>
                </a:solidFill>
              </a:rPr>
              <a:t> extra: EMA(</a:t>
            </a:r>
            <a:r>
              <a:rPr lang="it-IT" sz="1800" b="1" dirty="0" err="1">
                <a:solidFill>
                  <a:srgbClr val="0000FF"/>
                </a:solidFill>
              </a:rPr>
              <a:t>Exponential</a:t>
            </a:r>
            <a:r>
              <a:rPr lang="it-IT" sz="1800" b="1" dirty="0">
                <a:solidFill>
                  <a:srgbClr val="0000FF"/>
                </a:solidFill>
              </a:rPr>
              <a:t> </a:t>
            </a:r>
            <a:r>
              <a:rPr lang="it-IT" sz="1800" b="1" dirty="0" err="1">
                <a:solidFill>
                  <a:srgbClr val="0000FF"/>
                </a:solidFill>
              </a:rPr>
              <a:t>Moving</a:t>
            </a:r>
            <a:r>
              <a:rPr lang="it-IT" sz="1800" b="1" dirty="0">
                <a:solidFill>
                  <a:srgbClr val="0000FF"/>
                </a:solidFill>
              </a:rPr>
              <a:t> </a:t>
            </a:r>
            <a:r>
              <a:rPr lang="it-IT" sz="1800" b="1" dirty="0" err="1">
                <a:solidFill>
                  <a:srgbClr val="0000FF"/>
                </a:solidFill>
              </a:rPr>
              <a:t>Average</a:t>
            </a:r>
            <a:r>
              <a:rPr lang="it-IT" sz="1800" b="1" dirty="0">
                <a:solidFill>
                  <a:srgbClr val="0000FF"/>
                </a:solidFill>
              </a:rPr>
              <a:t> )</a:t>
            </a:r>
            <a:endParaRPr lang="en-GB" sz="1800" b="1" dirty="0">
              <a:solidFill>
                <a:srgbClr val="0000FF"/>
              </a:solidFill>
            </a:endParaRP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8B4727C8-5278-15F9-529C-24F94B9EC0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375" y="2241783"/>
            <a:ext cx="4742279" cy="3359114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5D289940-DF34-BA94-F38C-78E69BC95B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8857" y="2240874"/>
            <a:ext cx="6537486" cy="3321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228844"/>
      </p:ext>
    </p:extLst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0BB250-1E7D-A6B9-F138-D350FA37A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48C872-8531-5A68-5B34-016643A81B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noProof="0" dirty="0"/>
              <a:t>Slide </a:t>
            </a:r>
            <a:r>
              <a:rPr lang="it-IT" noProof="0" dirty="0" err="1"/>
              <a:t>Structure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97521F-F33D-40A7-0979-FCC725C3570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18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8C51AE-0E5B-D6D9-14B7-330923A5610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29AD392-8F26-681A-E1BC-F2879E87907D}"/>
              </a:ext>
            </a:extLst>
          </p:cNvPr>
          <p:cNvSpPr txBox="1"/>
          <p:nvPr/>
        </p:nvSpPr>
        <p:spPr>
          <a:xfrm>
            <a:off x="766232" y="4464115"/>
            <a:ext cx="1072885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Text </a:t>
            </a:r>
            <a:r>
              <a:rPr lang="en-GB" sz="1800" b="1" dirty="0" err="1">
                <a:solidFill>
                  <a:srgbClr val="0000FF"/>
                </a:solidFill>
              </a:rPr>
              <a:t>text</a:t>
            </a:r>
            <a:r>
              <a:rPr lang="en-GB" sz="1800" b="1" dirty="0">
                <a:solidFill>
                  <a:srgbClr val="0000FF"/>
                </a:solidFill>
              </a:rPr>
              <a:t> </a:t>
            </a:r>
            <a:r>
              <a:rPr lang="en-GB" sz="1800" b="1" dirty="0" err="1">
                <a:solidFill>
                  <a:srgbClr val="0000FF"/>
                </a:solidFill>
              </a:rPr>
              <a:t>text</a:t>
            </a: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text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text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Text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6F0A0CD-3364-B24E-1729-FC1990C36303}"/>
              </a:ext>
            </a:extLst>
          </p:cNvPr>
          <p:cNvSpPr/>
          <p:nvPr/>
        </p:nvSpPr>
        <p:spPr bwMode="auto">
          <a:xfrm>
            <a:off x="3418203" y="1155334"/>
            <a:ext cx="4860540" cy="330878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469900" marR="0" indent="-469900" algn="l" defTabSz="914400" rtl="0" eaLnBrk="1" fontAlgn="base" latinLnBrk="0" hangingPunct="1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Tx/>
              <a:buFont typeface="Wingdings" pitchFamily="2" charset="2"/>
              <a:buChar char="o"/>
              <a:tabLst/>
            </a:pPr>
            <a:endParaRPr kumimoji="0" lang="en-GB" sz="2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Verdana" pitchFamily="34" charset="0"/>
              <a:ea typeface="ＭＳ Ｐゴシック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752778631"/>
      </p:ext>
    </p:extLst>
  </p:cSld>
  <p:clrMapOvr>
    <a:masterClrMapping/>
  </p:clrMapOvr>
  <p:transition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BC20C6-13DC-24B6-6536-798F3356E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6D6389-E012-661B-7CB1-89B814AECF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noProof="0" dirty="0"/>
              <a:t>Slide </a:t>
            </a:r>
            <a:r>
              <a:rPr lang="it-IT" noProof="0" dirty="0" err="1"/>
              <a:t>Structure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9B4F3A-6546-5DA8-D4A7-1A9D389B8A3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19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830614-A9C6-1E74-6976-DDA02677798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7617C54-65BB-F8A5-7CC0-DC3A97333934}"/>
              </a:ext>
            </a:extLst>
          </p:cNvPr>
          <p:cNvSpPr txBox="1"/>
          <p:nvPr/>
        </p:nvSpPr>
        <p:spPr>
          <a:xfrm>
            <a:off x="766232" y="4464115"/>
            <a:ext cx="1072885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Text </a:t>
            </a:r>
            <a:r>
              <a:rPr lang="en-GB" sz="1800" b="1" dirty="0" err="1">
                <a:solidFill>
                  <a:srgbClr val="0000FF"/>
                </a:solidFill>
              </a:rPr>
              <a:t>text</a:t>
            </a:r>
            <a:r>
              <a:rPr lang="en-GB" sz="1800" b="1" dirty="0">
                <a:solidFill>
                  <a:srgbClr val="0000FF"/>
                </a:solidFill>
              </a:rPr>
              <a:t> </a:t>
            </a:r>
            <a:r>
              <a:rPr lang="en-GB" sz="1800" b="1" dirty="0" err="1">
                <a:solidFill>
                  <a:srgbClr val="0000FF"/>
                </a:solidFill>
              </a:rPr>
              <a:t>text</a:t>
            </a: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text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text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Text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E2C2D40-DEE7-54C8-3324-540F8ED714A4}"/>
              </a:ext>
            </a:extLst>
          </p:cNvPr>
          <p:cNvSpPr/>
          <p:nvPr/>
        </p:nvSpPr>
        <p:spPr bwMode="auto">
          <a:xfrm>
            <a:off x="3418203" y="1155334"/>
            <a:ext cx="4860540" cy="330878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469900" marR="0" indent="-469900" algn="l" defTabSz="914400" rtl="0" eaLnBrk="1" fontAlgn="base" latinLnBrk="0" hangingPunct="1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Tx/>
              <a:buFont typeface="Wingdings" pitchFamily="2" charset="2"/>
              <a:buChar char="o"/>
              <a:tabLst/>
            </a:pPr>
            <a:endParaRPr kumimoji="0" lang="en-GB" sz="2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Verdana" pitchFamily="34" charset="0"/>
              <a:ea typeface="ＭＳ Ｐゴシック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69750494"/>
      </p:ext>
    </p:extLst>
  </p:cSld>
  <p:clrMapOvr>
    <a:masterClrMapping/>
  </p:clrMapOvr>
  <p:transition/>
</p:sld>
</file>

<file path=ppt/theme/theme1.xml><?xml version="1.0" encoding="utf-8"?>
<a:theme xmlns:a="http://schemas.openxmlformats.org/drawingml/2006/main" name="Profile">
  <a:themeElements>
    <a:clrScheme name="Profile 9">
      <a:dk1>
        <a:srgbClr val="000000"/>
      </a:dk1>
      <a:lt1>
        <a:srgbClr val="FFFFFF"/>
      </a:lt1>
      <a:dk2>
        <a:srgbClr val="000000"/>
      </a:dk2>
      <a:lt2>
        <a:srgbClr val="DDDDDD"/>
      </a:lt2>
      <a:accent1>
        <a:srgbClr val="A3B2C1"/>
      </a:accent1>
      <a:accent2>
        <a:srgbClr val="CC0000"/>
      </a:accent2>
      <a:accent3>
        <a:srgbClr val="FFFFFF"/>
      </a:accent3>
      <a:accent4>
        <a:srgbClr val="000000"/>
      </a:accent4>
      <a:accent5>
        <a:srgbClr val="CED5DD"/>
      </a:accent5>
      <a:accent6>
        <a:srgbClr val="B90000"/>
      </a:accent6>
      <a:hlink>
        <a:srgbClr val="336699"/>
      </a:hlink>
      <a:folHlink>
        <a:srgbClr val="003366"/>
      </a:folHlink>
    </a:clrScheme>
    <a:fontScheme name="Profile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469900" marR="0" indent="-469900" algn="l" defTabSz="914400" rtl="0" eaLnBrk="1" fontAlgn="base" latinLnBrk="0" hangingPunct="1">
          <a:lnSpc>
            <a:spcPct val="90000"/>
          </a:lnSpc>
          <a:spcBef>
            <a:spcPct val="20000"/>
          </a:spcBef>
          <a:spcAft>
            <a:spcPct val="0"/>
          </a:spcAft>
          <a:buClr>
            <a:schemeClr val="accent2"/>
          </a:buClr>
          <a:buSzTx/>
          <a:buFont typeface="Wingdings" pitchFamily="2" charset="2"/>
          <a:buChar char="o"/>
          <a:tabLst/>
          <a:defRPr kumimoji="0" lang="en-US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Verdana" pitchFamily="34" charset="0"/>
            <a:ea typeface="ＭＳ Ｐゴシック" pitchFamily="50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469900" marR="0" indent="-469900" algn="l" defTabSz="914400" rtl="0" eaLnBrk="1" fontAlgn="base" latinLnBrk="0" hangingPunct="1">
          <a:lnSpc>
            <a:spcPct val="90000"/>
          </a:lnSpc>
          <a:spcBef>
            <a:spcPct val="20000"/>
          </a:spcBef>
          <a:spcAft>
            <a:spcPct val="0"/>
          </a:spcAft>
          <a:buClr>
            <a:schemeClr val="accent2"/>
          </a:buClr>
          <a:buSzTx/>
          <a:buFont typeface="Wingdings" pitchFamily="2" charset="2"/>
          <a:buChar char="o"/>
          <a:tabLst/>
          <a:defRPr kumimoji="0" lang="en-US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Verdana" pitchFamily="34" charset="0"/>
            <a:ea typeface="ＭＳ Ｐゴシック" pitchFamily="50" charset="-128"/>
          </a:defRPr>
        </a:defPPr>
      </a:lstStyle>
    </a:lnDef>
  </a:objectDefaults>
  <a:extraClrSchemeLst>
    <a:extraClrScheme>
      <a:clrScheme name="Profile 1">
        <a:dk1>
          <a:srgbClr val="A50021"/>
        </a:dk1>
        <a:lt1>
          <a:srgbClr val="FFFFFF"/>
        </a:lt1>
        <a:dk2>
          <a:srgbClr val="800000"/>
        </a:dk2>
        <a:lt2>
          <a:srgbClr val="FFFFFF"/>
        </a:lt2>
        <a:accent1>
          <a:srgbClr val="FF9900"/>
        </a:accent1>
        <a:accent2>
          <a:srgbClr val="FF3300"/>
        </a:accent2>
        <a:accent3>
          <a:srgbClr val="C0AAAA"/>
        </a:accent3>
        <a:accent4>
          <a:srgbClr val="DADADA"/>
        </a:accent4>
        <a:accent5>
          <a:srgbClr val="FFCAAA"/>
        </a:accent5>
        <a:accent6>
          <a:srgbClr val="E72D00"/>
        </a:accent6>
        <a:hlink>
          <a:srgbClr val="FFFFCC"/>
        </a:hlink>
        <a:folHlink>
          <a:srgbClr val="FFCC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2">
        <a:dk1>
          <a:srgbClr val="3C001E"/>
        </a:dk1>
        <a:lt1>
          <a:srgbClr val="FFFFFF"/>
        </a:lt1>
        <a:dk2>
          <a:srgbClr val="51072E"/>
        </a:dk2>
        <a:lt2>
          <a:srgbClr val="FFFFFF"/>
        </a:lt2>
        <a:accent1>
          <a:srgbClr val="89A38F"/>
        </a:accent1>
        <a:accent2>
          <a:srgbClr val="666699"/>
        </a:accent2>
        <a:accent3>
          <a:srgbClr val="B3AAAD"/>
        </a:accent3>
        <a:accent4>
          <a:srgbClr val="DADADA"/>
        </a:accent4>
        <a:accent5>
          <a:srgbClr val="C4CEC6"/>
        </a:accent5>
        <a:accent6>
          <a:srgbClr val="5C5C8A"/>
        </a:accent6>
        <a:hlink>
          <a:srgbClr val="80800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3">
        <a:dk1>
          <a:srgbClr val="333333"/>
        </a:dk1>
        <a:lt1>
          <a:srgbClr val="FFFFFF"/>
        </a:lt1>
        <a:dk2>
          <a:srgbClr val="000000"/>
        </a:dk2>
        <a:lt2>
          <a:srgbClr val="FFFFFF"/>
        </a:lt2>
        <a:accent1>
          <a:srgbClr val="3399FF"/>
        </a:accent1>
        <a:accent2>
          <a:srgbClr val="CC0000"/>
        </a:accent2>
        <a:accent3>
          <a:srgbClr val="AAAAAA"/>
        </a:accent3>
        <a:accent4>
          <a:srgbClr val="DADADA"/>
        </a:accent4>
        <a:accent5>
          <a:srgbClr val="ADCAFF"/>
        </a:accent5>
        <a:accent6>
          <a:srgbClr val="B90000"/>
        </a:accent6>
        <a:hlink>
          <a:srgbClr val="666699"/>
        </a:hlink>
        <a:folHlink>
          <a:srgbClr val="6600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4">
        <a:dk1>
          <a:srgbClr val="4B3D1B"/>
        </a:dk1>
        <a:lt1>
          <a:srgbClr val="FFFFFF"/>
        </a:lt1>
        <a:dk2>
          <a:srgbClr val="330000"/>
        </a:dk2>
        <a:lt2>
          <a:srgbClr val="FFFFFF"/>
        </a:lt2>
        <a:accent1>
          <a:srgbClr val="CC9900"/>
        </a:accent1>
        <a:accent2>
          <a:srgbClr val="CC6600"/>
        </a:accent2>
        <a:accent3>
          <a:srgbClr val="ADAAAA"/>
        </a:accent3>
        <a:accent4>
          <a:srgbClr val="DADADA"/>
        </a:accent4>
        <a:accent5>
          <a:srgbClr val="E2CAAA"/>
        </a:accent5>
        <a:accent6>
          <a:srgbClr val="B95C00"/>
        </a:accent6>
        <a:hlink>
          <a:srgbClr val="666699"/>
        </a:hlink>
        <a:folHlink>
          <a:srgbClr val="CC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5">
        <a:dk1>
          <a:srgbClr val="006666"/>
        </a:dk1>
        <a:lt1>
          <a:srgbClr val="FFFFFF"/>
        </a:lt1>
        <a:dk2>
          <a:srgbClr val="003366"/>
        </a:dk2>
        <a:lt2>
          <a:srgbClr val="FFFFFF"/>
        </a:lt2>
        <a:accent1>
          <a:srgbClr val="0099CC"/>
        </a:accent1>
        <a:accent2>
          <a:srgbClr val="6666FF"/>
        </a:accent2>
        <a:accent3>
          <a:srgbClr val="AAADB8"/>
        </a:accent3>
        <a:accent4>
          <a:srgbClr val="DADADA"/>
        </a:accent4>
        <a:accent5>
          <a:srgbClr val="AACAE2"/>
        </a:accent5>
        <a:accent6>
          <a:srgbClr val="5C5CE7"/>
        </a:accent6>
        <a:hlink>
          <a:srgbClr val="FFFFCC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6">
        <a:dk1>
          <a:srgbClr val="003366"/>
        </a:dk1>
        <a:lt1>
          <a:srgbClr val="FFFFFF"/>
        </a:lt1>
        <a:dk2>
          <a:srgbClr val="006666"/>
        </a:dk2>
        <a:lt2>
          <a:srgbClr val="FFFFFF"/>
        </a:lt2>
        <a:accent1>
          <a:srgbClr val="6699FF"/>
        </a:accent1>
        <a:accent2>
          <a:srgbClr val="00CCFF"/>
        </a:accent2>
        <a:accent3>
          <a:srgbClr val="AAB8B8"/>
        </a:accent3>
        <a:accent4>
          <a:srgbClr val="DADADA"/>
        </a:accent4>
        <a:accent5>
          <a:srgbClr val="B8CAFF"/>
        </a:accent5>
        <a:accent6>
          <a:srgbClr val="00B9E7"/>
        </a:accent6>
        <a:hlink>
          <a:srgbClr val="FFFFCC"/>
        </a:hlink>
        <a:folHlink>
          <a:srgbClr val="33CC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7">
        <a:dk1>
          <a:srgbClr val="000000"/>
        </a:dk1>
        <a:lt1>
          <a:srgbClr val="619CB1"/>
        </a:lt1>
        <a:dk2>
          <a:srgbClr val="FFFFFF"/>
        </a:dk2>
        <a:lt2>
          <a:srgbClr val="4E899E"/>
        </a:lt2>
        <a:accent1>
          <a:srgbClr val="FFCC00"/>
        </a:accent1>
        <a:accent2>
          <a:srgbClr val="B6523E"/>
        </a:accent2>
        <a:accent3>
          <a:srgbClr val="B7CBD5"/>
        </a:accent3>
        <a:accent4>
          <a:srgbClr val="000000"/>
        </a:accent4>
        <a:accent5>
          <a:srgbClr val="FFE2AA"/>
        </a:accent5>
        <a:accent6>
          <a:srgbClr val="A54937"/>
        </a:accent6>
        <a:hlink>
          <a:srgbClr val="99CC00"/>
        </a:hlink>
        <a:folHlink>
          <a:srgbClr val="6666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ofile 8">
        <a:dk1>
          <a:srgbClr val="598600"/>
        </a:dk1>
        <a:lt1>
          <a:srgbClr val="FFFFFF"/>
        </a:lt1>
        <a:dk2>
          <a:srgbClr val="336600"/>
        </a:dk2>
        <a:lt2>
          <a:srgbClr val="FFFFFF"/>
        </a:lt2>
        <a:accent1>
          <a:srgbClr val="33CC33"/>
        </a:accent1>
        <a:accent2>
          <a:srgbClr val="99CC00"/>
        </a:accent2>
        <a:accent3>
          <a:srgbClr val="ADB8AA"/>
        </a:accent3>
        <a:accent4>
          <a:srgbClr val="DADADA"/>
        </a:accent4>
        <a:accent5>
          <a:srgbClr val="ADE2AD"/>
        </a:accent5>
        <a:accent6>
          <a:srgbClr val="8AB900"/>
        </a:accent6>
        <a:hlink>
          <a:srgbClr val="FFCC00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9">
        <a:dk1>
          <a:srgbClr val="000000"/>
        </a:dk1>
        <a:lt1>
          <a:srgbClr val="FFFFFF"/>
        </a:lt1>
        <a:dk2>
          <a:srgbClr val="000000"/>
        </a:dk2>
        <a:lt2>
          <a:srgbClr val="DDDDDD"/>
        </a:lt2>
        <a:accent1>
          <a:srgbClr val="A3B2C1"/>
        </a:accent1>
        <a:accent2>
          <a:srgbClr val="CC0000"/>
        </a:accent2>
        <a:accent3>
          <a:srgbClr val="FFFFFF"/>
        </a:accent3>
        <a:accent4>
          <a:srgbClr val="000000"/>
        </a:accent4>
        <a:accent5>
          <a:srgbClr val="CED5DD"/>
        </a:accent5>
        <a:accent6>
          <a:srgbClr val="B90000"/>
        </a:accent6>
        <a:hlink>
          <a:srgbClr val="336699"/>
        </a:hlink>
        <a:folHlink>
          <a:srgbClr val="00336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09A656CF8C467741A56A16B7574AC68E" ma:contentTypeVersion="12" ma:contentTypeDescription="Creare un nuovo documento." ma:contentTypeScope="" ma:versionID="4f27b0f6ef663e5da5bafac1efc6fe9a">
  <xsd:schema xmlns:xsd="http://www.w3.org/2001/XMLSchema" xmlns:xs="http://www.w3.org/2001/XMLSchema" xmlns:p="http://schemas.microsoft.com/office/2006/metadata/properties" xmlns:ns3="d81608ca-db68-4891-9f53-9b89cbfff5c6" xmlns:ns4="be3c09a5-e964-4602-bd74-bbf48e0fabf1" targetNamespace="http://schemas.microsoft.com/office/2006/metadata/properties" ma:root="true" ma:fieldsID="8a6d6b69e42fa993b1c0a33dd1bd5a45" ns3:_="" ns4:_="">
    <xsd:import namespace="d81608ca-db68-4891-9f53-9b89cbfff5c6"/>
    <xsd:import namespace="be3c09a5-e964-4602-bd74-bbf48e0fabf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DateTaken" minOccurs="0"/>
                <xsd:element ref="ns3:MediaLengthInSeconds" minOccurs="0"/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81608ca-db68-4891-9f53-9b89cbfff5c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MediaServiceAutoTags" ma:internalName="MediaServiceAutoTags" ma:readOnly="true">
      <xsd:simpleType>
        <xsd:restriction base="dms:Text"/>
      </xsd:simpleType>
    </xsd:element>
    <xsd:element name="MediaServiceOCR" ma:index="1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3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14" nillable="true" ma:displayName="_activity" ma:hidden="true" ma:internalName="_activity">
      <xsd:simpleType>
        <xsd:restriction base="dms:Note"/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e3c09a5-e964-4602-bd74-bbf48e0fabf1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ndivis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Condiviso con dettagli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7" nillable="true" ma:displayName="Hash suggerimento condivisione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i contenuto"/>
        <xsd:element ref="dc:title" minOccurs="0" maxOccurs="1" ma:index="4" ma:displayName="Tito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d81608ca-db68-4891-9f53-9b89cbfff5c6" xsi:nil="true"/>
  </documentManagement>
</p:properties>
</file>

<file path=customXml/itemProps1.xml><?xml version="1.0" encoding="utf-8"?>
<ds:datastoreItem xmlns:ds="http://schemas.openxmlformats.org/officeDocument/2006/customXml" ds:itemID="{AC7A1D52-4C7C-4BE2-BA1D-9D952C857EA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81608ca-db68-4891-9f53-9b89cbfff5c6"/>
    <ds:schemaRef ds:uri="be3c09a5-e964-4602-bd74-bbf48e0fabf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E8D78F2-F211-4F79-8A63-15AEAF64F23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F5952B0-BE3F-4397-8C49-DFA106167C99}">
  <ds:schemaRefs>
    <ds:schemaRef ds:uri="http://schemas.microsoft.com/office/2006/documentManagement/types"/>
    <ds:schemaRef ds:uri="http://schemas.microsoft.com/office/infopath/2007/PartnerControls"/>
    <ds:schemaRef ds:uri="http://purl.org/dc/terms/"/>
    <ds:schemaRef ds:uri="http://purl.org/dc/dcmitype/"/>
    <ds:schemaRef ds:uri="http://schemas.openxmlformats.org/package/2006/metadata/core-properties"/>
    <ds:schemaRef ds:uri="be3c09a5-e964-4602-bd74-bbf48e0fabf1"/>
    <ds:schemaRef ds:uri="d81608ca-db68-4891-9f53-9b89cbfff5c6"/>
    <ds:schemaRef ds:uri="http://www.w3.org/XML/1998/namespace"/>
    <ds:schemaRef ds:uri="http://schemas.microsoft.com/office/2006/metadata/properties"/>
    <ds:schemaRef ds:uri="http://purl.org/dc/elements/1.1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Axis</Template>
  <TotalTime>10578</TotalTime>
  <Words>542</Words>
  <Application>Microsoft Office PowerPoint</Application>
  <PresentationFormat>Widescreen</PresentationFormat>
  <Paragraphs>134</Paragraphs>
  <Slides>19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19</vt:i4>
      </vt:variant>
    </vt:vector>
  </HeadingPairs>
  <TitlesOfParts>
    <vt:vector size="26" baseType="lpstr">
      <vt:lpstr>Arial</vt:lpstr>
      <vt:lpstr>Comic Sans MS</vt:lpstr>
      <vt:lpstr>NimbusRomNo9L-Regu</vt:lpstr>
      <vt:lpstr>Times New Roman</vt:lpstr>
      <vt:lpstr>Verdana</vt:lpstr>
      <vt:lpstr>Wingdings</vt:lpstr>
      <vt:lpstr>Profile</vt:lpstr>
      <vt:lpstr> Lorenzo Pina 894396, Simone Rancati 900052</vt:lpstr>
      <vt:lpstr>Final Documentation Report for filter_ma DESIGN</vt:lpstr>
      <vt:lpstr>Introduction</vt:lpstr>
      <vt:lpstr>Design of Multiadder</vt:lpstr>
      <vt:lpstr>Design of Multiadder - Testbench</vt:lpstr>
      <vt:lpstr>Design of Accumulator</vt:lpstr>
      <vt:lpstr>Design of Accumulator – Testbench</vt:lpstr>
      <vt:lpstr>Design of Divide_by</vt:lpstr>
      <vt:lpstr>Design of Divide_by - Testbench</vt:lpstr>
      <vt:lpstr>Simulation result – NFIFO = 32 (log2NFIFO = 5)</vt:lpstr>
      <vt:lpstr>Simulation result – NFIFO = 64 (log2NFIFO = 6)</vt:lpstr>
      <vt:lpstr>Simulation result – NFIFO = 128 (log2NFIFO = 7)</vt:lpstr>
      <vt:lpstr>Simulation result – NFIFO = 32 (log2NFIFO = 5)</vt:lpstr>
      <vt:lpstr>Simulation result – NFIFO = 64 (log2NFIFO = 6)</vt:lpstr>
      <vt:lpstr>Simulation result – NFIFO = 128 (log2NFIFO = 7)</vt:lpstr>
      <vt:lpstr>Signal to Noise Ratio</vt:lpstr>
      <vt:lpstr>Conclusions</vt:lpstr>
      <vt:lpstr>Slide Structure</vt:lpstr>
      <vt:lpstr>Slide Structure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ali</dc:creator>
  <cp:lastModifiedBy>l.pina4@campus.unimib.it</cp:lastModifiedBy>
  <cp:revision>8555</cp:revision>
  <cp:lastPrinted>2022-09-05T12:26:59Z</cp:lastPrinted>
  <dcterms:created xsi:type="dcterms:W3CDTF">2009-04-22T19:24:48Z</dcterms:created>
  <dcterms:modified xsi:type="dcterms:W3CDTF">2026-06-12T20:57:21Z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0x01010009A656CF8C467741A56A16B7574AC68E</vt:lpwstr>
  </property>
</Properties>
</file>