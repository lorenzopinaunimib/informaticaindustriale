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24"/>
  </p:notesMasterIdLst>
  <p:handoutMasterIdLst>
    <p:handoutMasterId r:id="rId25"/>
  </p:handoutMasterIdLst>
  <p:sldIdLst>
    <p:sldId id="898" r:id="rId5"/>
    <p:sldId id="1159" r:id="rId6"/>
    <p:sldId id="1129" r:id="rId7"/>
    <p:sldId id="1160" r:id="rId8"/>
    <p:sldId id="1161" r:id="rId9"/>
    <p:sldId id="1162" r:id="rId10"/>
    <p:sldId id="1163" r:id="rId11"/>
    <p:sldId id="1164" r:id="rId12"/>
    <p:sldId id="1165" r:id="rId13"/>
    <p:sldId id="1176" r:id="rId14"/>
    <p:sldId id="1167" r:id="rId15"/>
    <p:sldId id="1166" r:id="rId16"/>
    <p:sldId id="1168" r:id="rId17"/>
    <p:sldId id="1171" r:id="rId18"/>
    <p:sldId id="1172" r:id="rId19"/>
    <p:sldId id="1173" r:id="rId20"/>
    <p:sldId id="1169" r:id="rId21"/>
    <p:sldId id="1177" r:id="rId22"/>
    <p:sldId id="1174" r:id="rId23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predefinita" id="{6BD7EC1F-427B-4DC3-A8E8-F45B5A8302B2}">
          <p14:sldIdLst>
            <p14:sldId id="898"/>
            <p14:sldId id="1159"/>
            <p14:sldId id="1129"/>
            <p14:sldId id="1160"/>
            <p14:sldId id="1161"/>
            <p14:sldId id="1162"/>
            <p14:sldId id="1163"/>
            <p14:sldId id="1164"/>
            <p14:sldId id="1165"/>
            <p14:sldId id="1176"/>
            <p14:sldId id="1167"/>
            <p14:sldId id="1166"/>
            <p14:sldId id="1168"/>
            <p14:sldId id="1171"/>
            <p14:sldId id="1172"/>
            <p14:sldId id="1173"/>
            <p14:sldId id="1169"/>
            <p14:sldId id="1177"/>
            <p14:sldId id="11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FF3399"/>
    <a:srgbClr val="FFCCFF"/>
    <a:srgbClr val="00FF00"/>
    <a:srgbClr val="FFFF66"/>
    <a:srgbClr val="00FFFF"/>
    <a:srgbClr val="FF0066"/>
    <a:srgbClr val="0066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2" autoAdjust="0"/>
    <p:restoredTop sz="95759" autoAdjust="0"/>
  </p:normalViewPr>
  <p:slideViewPr>
    <p:cSldViewPr snapToObjects="1">
      <p:cViewPr varScale="1">
        <p:scale>
          <a:sx n="111" d="100"/>
          <a:sy n="111" d="100"/>
        </p:scale>
        <p:origin x="534" y="96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mailto:s.rancati8@campus.unimib.it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Lorenzo Pina 894396, Simone Rancati 900052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dirty="0">
                <a:solidFill>
                  <a:srgbClr val="0000FF"/>
                </a:solidFill>
                <a:latin typeface="NimbusRomNo9L-Regu"/>
              </a:rPr>
              <a:t>l.pina4@campus.unimib.it, </a:t>
            </a:r>
            <a:r>
              <a:rPr lang="it-IT" sz="1500" b="1" dirty="0">
                <a:solidFill>
                  <a:srgbClr val="0000FF"/>
                </a:solidFill>
                <a:latin typeface="NimbusRomNo9L-Regu"/>
                <a:hlinkClick r:id="rId5"/>
              </a:rPr>
              <a:t>s.rancati8@campus.unimib.it</a:t>
            </a:r>
            <a:endParaRPr lang="it-IT" sz="1500" b="1" dirty="0">
              <a:solidFill>
                <a:srgbClr val="0000FF"/>
              </a:solidFill>
              <a:latin typeface="NimbusRomNo9L-Regu"/>
            </a:endParaRPr>
          </a:p>
          <a:p>
            <a:r>
              <a:rPr lang="it-IT" sz="1500" b="1" dirty="0">
                <a:solidFill>
                  <a:srgbClr val="0000FF"/>
                </a:solidFill>
                <a:latin typeface="NimbusRomNo9L-Regu"/>
              </a:rPr>
              <a:t>https://github.com/LorenzoPinaUnimib/InformaticaIndustriale</a:t>
            </a:r>
            <a:endParaRPr lang="it-IT" sz="1500" b="1" i="0" u="none" strike="noStrike" baseline="0" dirty="0">
              <a:solidFill>
                <a:srgbClr val="0000FF"/>
              </a:solidFill>
              <a:latin typeface="NimbusRomNo9L-Regu"/>
            </a:endParaRP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3FF97-18AA-652C-ABE4-4249A1BC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F8E3B-8185-A5AA-39EC-BBEC33D79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en-US" dirty="0"/>
              <a:t>Final Documentation Report for </a:t>
            </a:r>
            <a:r>
              <a:rPr lang="en-US" i="1" dirty="0" err="1"/>
              <a:t>filter_ma</a:t>
            </a:r>
            <a:r>
              <a:rPr lang="en-US" i="1" dirty="0"/>
              <a:t> </a:t>
            </a:r>
            <a:r>
              <a:rPr lang="en-US" dirty="0"/>
              <a:t>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CE6ED-0253-25B3-AEEE-B4F71ECCA4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2AC0F6-22C9-C243-54F7-285BD364FD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32B80-8E7D-CC35-0BFA-2F7A8CA6A1D4}"/>
              </a:ext>
            </a:extLst>
          </p:cNvPr>
          <p:cNvSpPr txBox="1"/>
          <p:nvPr/>
        </p:nvSpPr>
        <p:spPr>
          <a:xfrm>
            <a:off x="0" y="1442061"/>
            <a:ext cx="11791310" cy="4462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Introduction (1 slide)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Scheme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Main I/O Signals and Parameters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Design of </a:t>
            </a:r>
            <a:r>
              <a:rPr lang="en-US" sz="2400" b="1" dirty="0" err="1"/>
              <a:t>Multiadder</a:t>
            </a:r>
            <a:r>
              <a:rPr lang="en-US" sz="2400" b="1" dirty="0"/>
              <a:t>, Accumulator e </a:t>
            </a:r>
            <a:r>
              <a:rPr lang="en-US" sz="2400" b="1" dirty="0" err="1"/>
              <a:t>divide_by</a:t>
            </a:r>
            <a:r>
              <a:rPr lang="en-US" sz="2400" b="1" dirty="0"/>
              <a:t> (max 6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Testbenches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Final Simulation Results for NFIFO=32, 64, 128 in VIVADO (max 10 slides)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Frequency Response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Time Domain Evolution of </a:t>
            </a:r>
            <a:r>
              <a:rPr lang="en-US" dirty="0" err="1"/>
              <a:t>ysignal+ynoise</a:t>
            </a:r>
            <a:endParaRPr lang="en-US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noProof="0" dirty="0"/>
              <a:t>Time Domain Evolution </a:t>
            </a:r>
            <a:r>
              <a:rPr lang="en-US" dirty="0"/>
              <a:t>o</a:t>
            </a:r>
            <a:r>
              <a:rPr lang="en-US" noProof="0" dirty="0"/>
              <a:t>f </a:t>
            </a:r>
            <a:r>
              <a:rPr lang="en-US" noProof="0" dirty="0" err="1"/>
              <a:t>ynoise</a:t>
            </a:r>
            <a:endParaRPr lang="en-US" noProof="0" dirty="0"/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en-US" dirty="0"/>
              <a:t>Signal to Noise Ratio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noProof="0" dirty="0"/>
              <a:t>Final Table Resume and Comments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400" b="1" dirty="0"/>
              <a:t>Conclusions (any idea about improvements?)</a:t>
            </a:r>
            <a:endParaRPr lang="en-US" sz="2400" b="1" noProof="0" dirty="0"/>
          </a:p>
        </p:txBody>
      </p:sp>
    </p:spTree>
    <p:extLst>
      <p:ext uri="{BB962C8B-B14F-4D97-AF65-F5344CB8AC3E}">
        <p14:creationId xmlns:p14="http://schemas.microsoft.com/office/powerpoint/2010/main" val="3272610378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Introduction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9723-69E5-36E2-BC85-D6337C05C9B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5ABD52-B62D-45EE-E9CB-5374F6194AAE}"/>
              </a:ext>
            </a:extLst>
          </p:cNvPr>
          <p:cNvSpPr txBox="1"/>
          <p:nvPr/>
        </p:nvSpPr>
        <p:spPr>
          <a:xfrm>
            <a:off x="766232" y="3917955"/>
            <a:ext cx="107288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Filter_MA</a:t>
            </a:r>
            <a:r>
              <a:rPr lang="en-GB" sz="1800" b="1" dirty="0">
                <a:solidFill>
                  <a:srgbClr val="0000FF"/>
                </a:solidFill>
              </a:rPr>
              <a:t> uses </a:t>
            </a:r>
            <a:r>
              <a:rPr lang="en-GB" sz="1800" b="1" dirty="0" err="1">
                <a:solidFill>
                  <a:srgbClr val="0000FF"/>
                </a:solidFill>
              </a:rPr>
              <a:t>datain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</a:t>
            </a:r>
            <a:r>
              <a:rPr lang="en-GB" sz="1800" b="1" dirty="0">
                <a:solidFill>
                  <a:srgbClr val="0000FF"/>
                </a:solidFill>
              </a:rPr>
              <a:t> as input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and output signals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Other signals are used internally to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communicate between components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parameters used are </a:t>
            </a:r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and log2NFIFO</a:t>
            </a:r>
          </a:p>
          <a:p>
            <a:r>
              <a:rPr lang="en-GB" sz="1800" b="1" dirty="0" err="1">
                <a:solidFill>
                  <a:srgbClr val="0000FF"/>
                </a:solidFill>
              </a:rPr>
              <a:t>Nbf</a:t>
            </a:r>
            <a:r>
              <a:rPr lang="en-GB" sz="1800" b="1" dirty="0">
                <a:solidFill>
                  <a:srgbClr val="0000FF"/>
                </a:solidFill>
              </a:rPr>
              <a:t> = bit resolution of signal</a:t>
            </a:r>
          </a:p>
          <a:p>
            <a:r>
              <a:rPr lang="en-GB" sz="1800" b="1" dirty="0">
                <a:solidFill>
                  <a:srgbClr val="0000FF"/>
                </a:solidFill>
              </a:rPr>
              <a:t>log2NFIFO = number of elements in the FIFO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1B2342F2-74E5-D67A-68CB-6C1C65461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084" y="1313765"/>
            <a:ext cx="4509005" cy="4681381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E68B671-E4AF-080B-ED57-3E7BCDC4A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0445" y="1223755"/>
            <a:ext cx="5187950" cy="251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6AB58-9ACB-F2FF-E142-DA3E63D9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50D6E-EADB-4187-31D9-E0B9DA53A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6856E-12C4-7D16-86C3-2743563A73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0EDEE-0F4C-4094-FAA2-8E7A3E30D3C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4B4D83-6EAE-3E2D-AACF-200FF2E54A27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mask0 to extend </a:t>
            </a:r>
            <a:r>
              <a:rPr lang="en-GB" sz="1800" b="1" dirty="0" err="1">
                <a:solidFill>
                  <a:srgbClr val="0000FF"/>
                </a:solidFill>
              </a:rPr>
              <a:t>datain_fifo</a:t>
            </a:r>
            <a:r>
              <a:rPr lang="en-GB" sz="1800" b="1" dirty="0">
                <a:solidFill>
                  <a:srgbClr val="0000FF"/>
                </a:solidFill>
              </a:rPr>
              <a:t> and </a:t>
            </a:r>
            <a:r>
              <a:rPr lang="en-GB" sz="1800" b="1" dirty="0" err="1">
                <a:solidFill>
                  <a:srgbClr val="0000FF"/>
                </a:solidFill>
              </a:rPr>
              <a:t>dataout_fifo</a:t>
            </a:r>
            <a:r>
              <a:rPr lang="en-GB" sz="1800" b="1" dirty="0">
                <a:solidFill>
                  <a:srgbClr val="0000FF"/>
                </a:solidFill>
              </a:rPr>
              <a:t> to Nb+log2NFIFO-1 bits</a:t>
            </a: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calculate the sum of the last NFIFO elements by taking the last result (saved in the accumulator), removing the last element and adding the new one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DC37987-972B-7544-8479-BAA3D85A94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351051"/>
            <a:ext cx="7772400" cy="294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18791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E96A5-E325-643C-B1CC-8820369F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E7EF9-D17C-CF98-9A36-E9465E504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Multiadder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3B5D2-CFB5-D990-904D-D16C264C4E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46F03-E00C-8C6E-5322-CC9568A7C4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B0B5D-19DA-82ED-EF26-D071AB2296D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doing some math operations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FFA73B26-E455-BD4A-63D5-59474C7997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894" y="2081690"/>
            <a:ext cx="5943600" cy="25146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41E863B-CDD6-1BF5-082F-1F84835B7F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450" y="1223755"/>
            <a:ext cx="3671444" cy="4230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44351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9FB1C-8C28-53BF-D04B-62B091F9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812F-CEA1-9A61-D8A7-CCBC65F33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156ED3-07BC-153F-5F7F-1EF73F72FA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805C7-CAD6-85F6-13E5-FF1F71EF74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943B5-BEF0-7378-94A6-B0E756A3CEFB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used a D-Flip-Flop to delay the result of the </a:t>
            </a:r>
            <a:r>
              <a:rPr lang="en-GB" sz="1800" b="1" dirty="0" err="1">
                <a:solidFill>
                  <a:srgbClr val="0000FF"/>
                </a:solidFill>
              </a:rPr>
              <a:t>Multiadder</a:t>
            </a:r>
            <a:r>
              <a:rPr lang="en-GB" sz="1800" b="1" dirty="0">
                <a:solidFill>
                  <a:srgbClr val="0000FF"/>
                </a:solidFill>
              </a:rPr>
              <a:t> by a clock tick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The Accumulator resets when the reset signal is 0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6EC15E6-0109-95CF-131B-78DFE3B12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56" y="1620939"/>
            <a:ext cx="5104726" cy="326166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550A10F-769A-A986-3103-87D0A1425F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020" y="1223755"/>
            <a:ext cx="4788616" cy="405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8853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7CDBC-9034-6D35-484C-A8663F59E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3DC2-1D1D-45C3-6110-9126C118E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Accumulator –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0E782-D160-F998-A09C-25BA0D8745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25A64-9099-22C1-BCC1-BE503345CB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D8637-529E-E7B9-A393-679B124AEC83}"/>
              </a:ext>
            </a:extLst>
          </p:cNvPr>
          <p:cNvSpPr txBox="1"/>
          <p:nvPr/>
        </p:nvSpPr>
        <p:spPr>
          <a:xfrm>
            <a:off x="766232" y="4464115"/>
            <a:ext cx="1072885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test the Accumulator using a counter and seeing if the output is delayed by a clock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699DD4E-573B-332A-36D6-D2C2C1CF0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365" y="1306341"/>
            <a:ext cx="7082110" cy="315777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CB55ECE-F388-AD68-7389-84093D343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2007" y="2933945"/>
            <a:ext cx="5715635" cy="2188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9533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D7FC-4F8C-4AF4-31A8-32F06DB4F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8EBB1-DAAC-FF6F-33D7-65288677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1CEAC-1E85-792D-96F1-2D619FEA0D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5382-4CF9-267A-DBC2-24759A4C81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CFF33-5A56-E598-663E-D0C76B5D9E98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implement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using a right shift of log2NFIFO bits and delaying the output using a D-Flip-Flop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72FDD64-3767-3A74-DC14-EFAE83C04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226" y="1313765"/>
            <a:ext cx="6931548" cy="3867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907005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7DAF-B471-14D9-1ADD-A549316C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E43DC-2BB4-BCAF-E799-F62A32AF5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/>
              <a:t>Design of </a:t>
            </a:r>
            <a:r>
              <a:rPr lang="it-IT" noProof="0" dirty="0" err="1"/>
              <a:t>Divide_by</a:t>
            </a:r>
            <a:r>
              <a:rPr lang="it-IT" noProof="0" dirty="0"/>
              <a:t> - </a:t>
            </a:r>
            <a:r>
              <a:rPr lang="it-IT" noProof="0" dirty="0" err="1"/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39505-76E3-4370-52CB-B665537E2A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262108-0A02-20C5-ED41-6784D9F635A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E73C62-23B5-7A8E-9FA8-AC6779A26570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use a counter to apply the </a:t>
            </a:r>
            <a:r>
              <a:rPr lang="en-GB" sz="1800" b="1" dirty="0" err="1">
                <a:solidFill>
                  <a:srgbClr val="0000FF"/>
                </a:solidFill>
              </a:rPr>
              <a:t>Divide_by</a:t>
            </a:r>
            <a:r>
              <a:rPr lang="en-GB" sz="1800" b="1" dirty="0">
                <a:solidFill>
                  <a:srgbClr val="0000FF"/>
                </a:solidFill>
              </a:rPr>
              <a:t> to every number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CD388D92-E8FB-947A-B9A9-2CE3E5E6E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360" y="1241193"/>
            <a:ext cx="7239000" cy="349250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88D8BF0-4771-8031-0CA1-B792DF57E1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1075" y="2769143"/>
            <a:ext cx="4890678" cy="252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13563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EC684-3CED-EFF0-1031-949E49046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1DC04-B2EE-FD84-5C36-1362EB63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pPr marL="457200" lvl="1"/>
            <a:r>
              <a:rPr lang="en-US" sz="3000" dirty="0">
                <a:latin typeface="+mj-lt"/>
                <a:ea typeface="+mj-ea"/>
                <a:cs typeface="+mj-cs"/>
              </a:rPr>
              <a:t>Frequency Response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89C49B-4ABE-1863-7861-F440F6075E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8C74F-CD84-3203-9CF1-EDF93C79716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958FF2-A128-7A94-6F60-4C3D0A1F03FD}"/>
              </a:ext>
            </a:extLst>
          </p:cNvPr>
          <p:cNvSpPr txBox="1"/>
          <p:nvPr/>
        </p:nvSpPr>
        <p:spPr>
          <a:xfrm>
            <a:off x="766232" y="4464115"/>
            <a:ext cx="1072885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Il </a:t>
            </a:r>
            <a:r>
              <a:rPr lang="en-GB" sz="1800" b="1" dirty="0" err="1">
                <a:solidFill>
                  <a:srgbClr val="0000FF"/>
                </a:solidFill>
              </a:rPr>
              <a:t>filtro</a:t>
            </a:r>
            <a:r>
              <a:rPr lang="en-GB" sz="1800" b="1" dirty="0">
                <a:solidFill>
                  <a:srgbClr val="0000FF"/>
                </a:solidFill>
              </a:rPr>
              <a:t> ha </a:t>
            </a:r>
            <a:r>
              <a:rPr lang="en-GB" sz="1800" b="1" dirty="0" err="1">
                <a:solidFill>
                  <a:srgbClr val="0000FF"/>
                </a:solidFill>
              </a:rPr>
              <a:t>rimosso</a:t>
            </a:r>
            <a:r>
              <a:rPr lang="en-GB" sz="1800" b="1" dirty="0">
                <a:solidFill>
                  <a:srgbClr val="0000FF"/>
                </a:solidFill>
              </a:rPr>
              <a:t> il </a:t>
            </a:r>
            <a:r>
              <a:rPr lang="en-GB" sz="1800" b="1" dirty="0" err="1">
                <a:solidFill>
                  <a:srgbClr val="0000FF"/>
                </a:solidFill>
              </a:rPr>
              <a:t>rumore</a:t>
            </a:r>
            <a:r>
              <a:rPr lang="en-GB" sz="1800" b="1" dirty="0">
                <a:solidFill>
                  <a:srgbClr val="0000FF"/>
                </a:solidFill>
              </a:rPr>
              <a:t> a </a:t>
            </a:r>
            <a:r>
              <a:rPr lang="en-GB" sz="1800" b="1" dirty="0" err="1">
                <a:solidFill>
                  <a:srgbClr val="0000FF"/>
                </a:solidFill>
              </a:rPr>
              <a:t>frequenze</a:t>
            </a:r>
            <a:r>
              <a:rPr lang="en-GB" sz="1800" b="1" dirty="0">
                <a:solidFill>
                  <a:srgbClr val="0000FF"/>
                </a:solidFill>
              </a:rPr>
              <a:t> elevate(</a:t>
            </a:r>
            <a:r>
              <a:rPr lang="en-GB" sz="1800" b="1" dirty="0" err="1">
                <a:solidFill>
                  <a:srgbClr val="0000FF"/>
                </a:solidFill>
              </a:rPr>
              <a:t>grafico</a:t>
            </a:r>
            <a:r>
              <a:rPr lang="en-GB" sz="1800" b="1" dirty="0">
                <a:solidFill>
                  <a:srgbClr val="0000FF"/>
                </a:solidFill>
              </a:rPr>
              <a:t> di Destra)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0 a </a:t>
            </a:r>
            <a:r>
              <a:rPr lang="en-GB" sz="1800" b="1" dirty="0" err="1">
                <a:solidFill>
                  <a:srgbClr val="0000FF"/>
                </a:solidFill>
              </a:rPr>
              <a:t>multipli</a:t>
            </a:r>
            <a:r>
              <a:rPr lang="en-GB" sz="1800" b="1" dirty="0">
                <a:solidFill>
                  <a:srgbClr val="0000FF"/>
                </a:solidFill>
              </a:rPr>
              <a:t> di F/N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449392E-BEC1-14AF-1784-C773561B27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45" y="1583795"/>
            <a:ext cx="7086110" cy="351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902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A7E5-1B21-A348-A550-2908CBD8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6D618-3296-C7EC-64F6-CCBD8043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3BEC9-CC7A-255E-32CD-47827488D2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3A348-C771-65E7-15FF-0C220357F10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A45E4-E2DC-D7E1-90EA-2C62DA45211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6EBBA04-6B70-0A99-5A10-FDC3FDADD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467" y="1223755"/>
            <a:ext cx="9391066" cy="403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92191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96D20-3F36-58CF-2AE3-FE56A007D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FCBDA-37E6-D8D2-149D-726B75148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E2669-C219-AFF1-9276-B2F9ABF395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598ED-E787-E081-8741-5EFFDEFB4ED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E5FA3B-A1A0-B65F-880F-DC3CD5A8497E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F2F95C9-D336-4B9C-B35D-F6123AE217A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5186" y="1223755"/>
            <a:ext cx="9421628" cy="4040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715419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C85A-25D5-1C12-053D-E1EAF073F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2B8B-46AE-23D5-A605-DB562CB8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636B3-100F-A1C8-CA39-0292CED96E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296EC-552C-DA95-437A-5F09F06A88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710E03-EE8A-D043-0C3B-AE951E4F41CD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4EFDBD2-324E-2891-CBDC-89BD6D6BFEB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438" y="1223755"/>
            <a:ext cx="9403124" cy="396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5964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8C3B0-B6B6-3F92-9305-C2B4E5A8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6E48-8387-6BCB-BF8D-56ACB5282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Simulation</a:t>
            </a:r>
            <a:r>
              <a:rPr lang="it-IT" noProof="0" dirty="0"/>
              <a:t> </a:t>
            </a:r>
            <a:r>
              <a:rPr lang="it-IT" noProof="0" dirty="0" err="1"/>
              <a:t>result</a:t>
            </a:r>
            <a:r>
              <a:rPr lang="it-IT" noProof="0" dirty="0"/>
              <a:t> – NFIFO = 32 (log2NFIFO = 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74522-E8B0-70B0-B932-82F42093A8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64019-9D64-296F-1FD9-0468375AAF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F6F672-B692-6245-5E7B-3440D884778A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We can see that the result still shows the presence of some noise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826024C8-C8A0-DBD6-117E-4EB915FE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308" y="1309391"/>
            <a:ext cx="9907383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209990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586F1-6BA8-268E-D00B-46879C6C4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FAF2D-6426-E7A3-054E-A5C07687C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64 (log2NFIFO = 6)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39260-F85E-6E00-E201-B9001902CF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C386D-22CB-BCB0-8129-92CF1D25170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F775FE-AE2A-581C-255C-EF6A1BA819A1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64 the resulting sinusoid shows an improvement</a:t>
            </a:r>
            <a:endParaRPr lang="en-GB" sz="1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3B6D1FA-64DD-899E-8F46-28F7546B8D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490" y="1299865"/>
            <a:ext cx="8897592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1907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4395A-E7A7-7562-F0B9-C70598639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1C81D-AB13-15EF-F93D-F165E383B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Simulation</a:t>
            </a:r>
            <a:r>
              <a:rPr lang="it-IT" dirty="0"/>
              <a:t> </a:t>
            </a:r>
            <a:r>
              <a:rPr lang="it-IT" dirty="0" err="1"/>
              <a:t>result</a:t>
            </a:r>
            <a:r>
              <a:rPr lang="it-IT" dirty="0"/>
              <a:t> – NFIFO = 128 (log2NFIFO = 7)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AC632-F172-6335-3FF2-2D47F8BA16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6CDE1-2C8B-7A15-3198-6A32E0FB9E7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A12A7C-03AE-92CA-6850-BD794E5A8C83}"/>
              </a:ext>
            </a:extLst>
          </p:cNvPr>
          <p:cNvSpPr txBox="1"/>
          <p:nvPr/>
        </p:nvSpPr>
        <p:spPr>
          <a:xfrm>
            <a:off x="766232" y="4464115"/>
            <a:ext cx="107288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>
                <a:solidFill>
                  <a:srgbClr val="0000FF"/>
                </a:solidFill>
              </a:rPr>
              <a:t>With NFIFO = 128 the sinusoid is smoother but with more attenuation</a:t>
            </a:r>
            <a:endParaRPr lang="en-GB" sz="1800" dirty="0"/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746CE43-2847-F04A-FACD-5889677F8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967" y="1399892"/>
            <a:ext cx="8888065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15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60573-C13A-3E6D-BBC9-E03140BF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D7E12-5FE4-6BF6-0F2C-E6165E295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3" y="222381"/>
            <a:ext cx="7971367" cy="72059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pPr marL="457200" lvl="1"/>
            <a:r>
              <a:rPr lang="en-US" sz="3000" dirty="0">
                <a:latin typeface="+mj-lt"/>
                <a:ea typeface="+mj-ea"/>
                <a:cs typeface="+mj-cs"/>
              </a:rPr>
              <a:t>Signal to Noise Ratio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0B4FE0A9-9089-44D5-B1DC-C5A8EC9CE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63" y="1275468"/>
            <a:ext cx="6155666" cy="2835315"/>
          </a:xfrm>
          <a:prstGeom prst="rect">
            <a:avLst/>
          </a:prstGeom>
          <a:noFill/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6E26371-097A-20B0-F174-87B38A787ED2}"/>
              </a:ext>
            </a:extLst>
          </p:cNvPr>
          <p:cNvSpPr txBox="1"/>
          <p:nvPr/>
        </p:nvSpPr>
        <p:spPr bwMode="auto">
          <a:xfrm>
            <a:off x="335360" y="4464114"/>
            <a:ext cx="11088291" cy="15556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NFIFO=32  </a:t>
            </a:r>
            <a:r>
              <a:rPr lang="en-US" sz="2400" dirty="0" err="1">
                <a:latin typeface="+mn-lt"/>
              </a:rPr>
              <a:t>rumore</a:t>
            </a:r>
            <a:r>
              <a:rPr lang="en-US" sz="2400" dirty="0">
                <a:latin typeface="+mn-lt"/>
              </a:rPr>
              <a:t> Maggiore, delay </a:t>
            </a:r>
            <a:r>
              <a:rPr lang="en-US" sz="2400" dirty="0" err="1">
                <a:latin typeface="+mn-lt"/>
              </a:rPr>
              <a:t>minore</a:t>
            </a:r>
            <a:r>
              <a:rPr lang="en-US" sz="2400" dirty="0">
                <a:latin typeface="+mn-lt"/>
              </a:rPr>
              <a:t> e </a:t>
            </a:r>
            <a:r>
              <a:rPr lang="en-US" sz="2400" dirty="0" err="1">
                <a:latin typeface="+mn-lt"/>
              </a:rPr>
              <a:t>ampiezza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maggiore</a:t>
            </a:r>
            <a:endParaRPr lang="en-US" sz="2400" dirty="0">
              <a:latin typeface="+mn-lt"/>
            </a:endParaRP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NFIFO=128 </a:t>
            </a:r>
            <a:r>
              <a:rPr lang="en-US" sz="2400" dirty="0" err="1">
                <a:latin typeface="+mn-lt"/>
              </a:rPr>
              <a:t>rumore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minore</a:t>
            </a:r>
            <a:r>
              <a:rPr lang="en-US" sz="2400" dirty="0">
                <a:latin typeface="+mn-lt"/>
              </a:rPr>
              <a:t>, delay Maggiore e </a:t>
            </a:r>
            <a:r>
              <a:rPr lang="en-US" sz="2400" dirty="0" err="1">
                <a:latin typeface="+mn-lt"/>
              </a:rPr>
              <a:t>ampiezza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minore</a:t>
            </a:r>
            <a:endParaRPr lang="en-US" sz="2400" dirty="0">
              <a:latin typeface="+mn-lt"/>
            </a:endParaRP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endParaRPr lang="en-US" sz="2400" dirty="0">
              <a:latin typeface="+mn-lt"/>
            </a:endParaRPr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465262E3-B728-A1BE-FFF4-86968E432A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6373130"/>
            <a:ext cx="2641600" cy="476250"/>
          </a:xfrm>
        </p:spPr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Author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63509366-86DB-6BF4-B9E1-203D3363A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73130"/>
            <a:ext cx="3860800" cy="47625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94474-FC55-4D17-3BA9-681A09932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73130"/>
            <a:ext cx="2641600" cy="476250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2E6AEE32-87CF-4B18-ACD9-DC92317905A5}" type="slidenum">
              <a:rPr lang="en-US" altLang="en-US" kern="1200">
                <a:latin typeface="Verdana" panose="020B0604030504040204" pitchFamily="34" charset="0"/>
                <a:ea typeface="ＭＳ Ｐゴシック" panose="020B0600070205080204" pitchFamily="34" charset="-128"/>
                <a:cs typeface="+mn-cs"/>
              </a:rPr>
              <a:pPr>
                <a:spcAft>
                  <a:spcPts val="600"/>
                </a:spcAft>
              </a:pPr>
              <a:t>17</a:t>
            </a:fld>
            <a:endParaRPr lang="en-US" altLang="en-US" kern="1200">
              <a:latin typeface="Verdan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66ED0CC-FE1D-1D6C-14BC-F43A8C7DE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029" y="1275467"/>
            <a:ext cx="5667351" cy="283531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77B367-DCAF-3830-5749-6EAEF5942E47}"/>
              </a:ext>
            </a:extLst>
          </p:cNvPr>
          <p:cNvSpPr txBox="1"/>
          <p:nvPr/>
        </p:nvSpPr>
        <p:spPr>
          <a:xfrm>
            <a:off x="650395" y="1127031"/>
            <a:ext cx="15943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NFIFO= 32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5D91A2F-2A17-1740-A736-2F4094B230BC}"/>
              </a:ext>
            </a:extLst>
          </p:cNvPr>
          <p:cNvSpPr txBox="1"/>
          <p:nvPr/>
        </p:nvSpPr>
        <p:spPr>
          <a:xfrm>
            <a:off x="10191455" y="1096253"/>
            <a:ext cx="1530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NFIFO=128</a:t>
            </a:r>
          </a:p>
        </p:txBody>
      </p:sp>
    </p:spTree>
    <p:extLst>
      <p:ext uri="{BB962C8B-B14F-4D97-AF65-F5344CB8AC3E}">
        <p14:creationId xmlns:p14="http://schemas.microsoft.com/office/powerpoint/2010/main" val="217621907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B3A23-DBE8-4DE1-80B6-95C0407E2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DC5AA-737C-89ED-A043-D42AA6EF3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3" y="222381"/>
            <a:ext cx="7971367" cy="720596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r>
              <a:rPr lang="en-US" dirty="0"/>
              <a:t>Final Table Resume and Comments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6270-6F5B-AB23-F9BE-2B705F199F06}"/>
              </a:ext>
            </a:extLst>
          </p:cNvPr>
          <p:cNvSpPr txBox="1"/>
          <p:nvPr/>
        </p:nvSpPr>
        <p:spPr bwMode="auto">
          <a:xfrm>
            <a:off x="335360" y="4464114"/>
            <a:ext cx="11088291" cy="15556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 fontScale="92500"/>
          </a:bodyPr>
          <a:lstStyle/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Si </a:t>
            </a:r>
            <a:r>
              <a:rPr lang="en-US" sz="2400" dirty="0" err="1">
                <a:latin typeface="+mn-lt"/>
              </a:rPr>
              <a:t>può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notare</a:t>
            </a:r>
            <a:r>
              <a:rPr lang="en-US" sz="2400" dirty="0">
                <a:latin typeface="+mn-lt"/>
              </a:rPr>
              <a:t> come al </a:t>
            </a:r>
            <a:r>
              <a:rPr lang="en-US" sz="2400" dirty="0" err="1">
                <a:latin typeface="+mn-lt"/>
              </a:rPr>
              <a:t>variare</a:t>
            </a:r>
            <a:r>
              <a:rPr lang="en-US" sz="2400" dirty="0">
                <a:latin typeface="+mn-lt"/>
              </a:rPr>
              <a:t> di NFIFO non </a:t>
            </a:r>
            <a:r>
              <a:rPr lang="en-US" sz="2400" dirty="0" err="1">
                <a:latin typeface="+mn-lt"/>
              </a:rPr>
              <a:t>si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hanno</a:t>
            </a:r>
            <a:r>
              <a:rPr lang="en-US" sz="2400" dirty="0">
                <a:latin typeface="+mn-lt"/>
              </a:rPr>
              <a:t> solo </a:t>
            </a:r>
            <a:r>
              <a:rPr lang="en-US" sz="2400" dirty="0" err="1">
                <a:latin typeface="+mn-lt"/>
              </a:rPr>
              <a:t>risultati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positivi</a:t>
            </a:r>
            <a:r>
              <a:rPr lang="en-US" sz="2400" dirty="0">
                <a:latin typeface="+mn-lt"/>
              </a:rPr>
              <a:t> (</a:t>
            </a:r>
            <a:r>
              <a:rPr lang="en-US" sz="2400" dirty="0" err="1">
                <a:latin typeface="+mn-lt"/>
              </a:rPr>
              <a:t>tolgo</a:t>
            </a:r>
            <a:r>
              <a:rPr lang="en-US" sz="2400" dirty="0">
                <a:latin typeface="+mn-lt"/>
              </a:rPr>
              <a:t> il </a:t>
            </a:r>
            <a:r>
              <a:rPr lang="en-US" sz="2400" dirty="0" err="1">
                <a:latin typeface="+mn-lt"/>
              </a:rPr>
              <a:t>rumore</a:t>
            </a:r>
            <a:r>
              <a:rPr lang="en-US" sz="2400" dirty="0">
                <a:latin typeface="+mn-lt"/>
              </a:rPr>
              <a:t>) ma </a:t>
            </a:r>
            <a:r>
              <a:rPr lang="en-US" sz="2400" dirty="0" err="1">
                <a:latin typeface="+mn-lt"/>
              </a:rPr>
              <a:t>anche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effetti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indesiderati</a:t>
            </a:r>
            <a:r>
              <a:rPr lang="en-US" sz="2400" dirty="0">
                <a:latin typeface="+mn-lt"/>
              </a:rPr>
              <a:t> come la </a:t>
            </a:r>
            <a:r>
              <a:rPr lang="en-US" sz="2400" dirty="0" err="1">
                <a:latin typeface="+mn-lt"/>
              </a:rPr>
              <a:t>riduzione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dell’ampiezza</a:t>
            </a:r>
            <a:r>
              <a:rPr lang="en-US" sz="2400" dirty="0">
                <a:latin typeface="+mn-lt"/>
              </a:rPr>
              <a:t> e </a:t>
            </a:r>
            <a:r>
              <a:rPr lang="en-US" sz="2400" dirty="0" err="1">
                <a:latin typeface="+mn-lt"/>
              </a:rPr>
              <a:t>l’aumento</a:t>
            </a:r>
            <a:r>
              <a:rPr lang="en-US" sz="2400" dirty="0">
                <a:latin typeface="+mn-lt"/>
              </a:rPr>
              <a:t> del delay </a:t>
            </a:r>
            <a:r>
              <a:rPr lang="en-US" sz="2400" dirty="0" err="1">
                <a:latin typeface="+mn-lt"/>
              </a:rPr>
              <a:t>tra</a:t>
            </a:r>
            <a:r>
              <a:rPr lang="en-US" sz="2400" dirty="0">
                <a:latin typeface="+mn-lt"/>
              </a:rPr>
              <a:t> il </a:t>
            </a:r>
            <a:r>
              <a:rPr lang="en-US" sz="2400" dirty="0" err="1">
                <a:latin typeface="+mn-lt"/>
              </a:rPr>
              <a:t>segnale</a:t>
            </a:r>
            <a:r>
              <a:rPr lang="en-US" sz="2400" dirty="0">
                <a:latin typeface="+mn-lt"/>
              </a:rPr>
              <a:t> </a:t>
            </a:r>
            <a:r>
              <a:rPr lang="en-US" sz="2400" dirty="0" err="1">
                <a:latin typeface="+mn-lt"/>
              </a:rPr>
              <a:t>originale</a:t>
            </a:r>
            <a:r>
              <a:rPr lang="en-US" sz="2400" dirty="0">
                <a:latin typeface="+mn-lt"/>
              </a:rPr>
              <a:t> e filtrate.</a:t>
            </a: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r>
              <a:rPr lang="en-US" sz="2400" dirty="0">
                <a:latin typeface="+mn-lt"/>
              </a:rPr>
              <a:t>Tutto </a:t>
            </a:r>
            <a:r>
              <a:rPr lang="en-US" sz="2400" dirty="0" err="1">
                <a:latin typeface="+mn-lt"/>
              </a:rPr>
              <a:t>fatto</a:t>
            </a:r>
            <a:r>
              <a:rPr lang="en-US" sz="2400" dirty="0">
                <a:latin typeface="+mn-lt"/>
              </a:rPr>
              <a:t> con </a:t>
            </a:r>
            <a:r>
              <a:rPr lang="it-IT" sz="2400" dirty="0" err="1">
                <a:latin typeface="+mn-lt"/>
              </a:rPr>
              <a:t>SNRdB</a:t>
            </a:r>
            <a:r>
              <a:rPr lang="it-IT" sz="2400" dirty="0">
                <a:latin typeface="+mn-lt"/>
              </a:rPr>
              <a:t>=0</a:t>
            </a:r>
            <a:endParaRPr lang="en-US" sz="2400" dirty="0">
              <a:latin typeface="+mn-lt"/>
            </a:endParaRPr>
          </a:p>
          <a:p>
            <a:pPr marL="469900" indent="-469900" eaLnBrk="0" hangingPunct="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</a:pPr>
            <a:endParaRPr lang="en-US" sz="2400" dirty="0">
              <a:latin typeface="+mn-lt"/>
            </a:endParaRPr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40268E35-52DA-4783-3ED8-ECA895D8DF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2800" y="6373130"/>
            <a:ext cx="2641600" cy="476250"/>
          </a:xfrm>
        </p:spPr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Author</a:t>
            </a:r>
          </a:p>
        </p:txBody>
      </p:sp>
      <p:sp>
        <p:nvSpPr>
          <p:cNvPr id="16" name="Footer Placeholder 5">
            <a:extLst>
              <a:ext uri="{FF2B5EF4-FFF2-40B4-BE49-F238E27FC236}">
                <a16:creationId xmlns:a16="http://schemas.microsoft.com/office/drawing/2014/main" id="{3795E28A-B462-12F5-16B4-C9B4A574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73130"/>
            <a:ext cx="3860800" cy="47625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CEE00-516E-A5DE-AC6E-366E2786D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73130"/>
            <a:ext cx="2641600" cy="476250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2E6AEE32-87CF-4B18-ACD9-DC92317905A5}" type="slidenum">
              <a:rPr lang="en-US" altLang="en-US" kern="1200">
                <a:latin typeface="Verdana" panose="020B0604030504040204" pitchFamily="34" charset="0"/>
                <a:ea typeface="ＭＳ Ｐゴシック" panose="020B0600070205080204" pitchFamily="34" charset="-128"/>
                <a:cs typeface="+mn-cs"/>
              </a:rPr>
              <a:pPr>
                <a:spcAft>
                  <a:spcPts val="600"/>
                </a:spcAft>
              </a:pPr>
              <a:t>18</a:t>
            </a:fld>
            <a:endParaRPr lang="en-US" altLang="en-US" kern="1200">
              <a:latin typeface="Verdana" panose="020B0604030504040204" pitchFamily="34" charset="0"/>
              <a:ea typeface="ＭＳ Ｐゴシック" panose="020B0600070205080204" pitchFamily="34" charset="-128"/>
              <a:cs typeface="+mn-cs"/>
            </a:endParaRP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68E12A10-6FD3-7C88-06A0-AA23FAEB0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278948"/>
              </p:ext>
            </p:extLst>
          </p:nvPr>
        </p:nvGraphicFramePr>
        <p:xfrm>
          <a:off x="863600" y="1652206"/>
          <a:ext cx="8128000" cy="14833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386393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44442653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352760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0774547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NFIFO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SNR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Delay </a:t>
                      </a:r>
                      <a:r>
                        <a:rPr lang="it-IT" sz="1200" dirty="0"/>
                        <a:t>colpi Clock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ampiezza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565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8,63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3543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7,30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678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103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240380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37B5-7A0A-45F2-D5B3-1BFB0096A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F623A-8395-A763-F053-B908A2725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noProof="0" dirty="0" err="1"/>
              <a:t>Conclusions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DA548-7EC7-D191-7B03-AF971A11DA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F1536A-B195-9166-10BD-95C022304BE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8AB67-D0F1-CBC0-3678-4F4E48502E50}"/>
              </a:ext>
            </a:extLst>
          </p:cNvPr>
          <p:cNvSpPr txBox="1"/>
          <p:nvPr/>
        </p:nvSpPr>
        <p:spPr>
          <a:xfrm>
            <a:off x="650343" y="1268760"/>
            <a:ext cx="10728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Abiamo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realizzato</a:t>
            </a:r>
            <a:r>
              <a:rPr lang="en-GB" sz="1800" b="1" dirty="0">
                <a:solidFill>
                  <a:srgbClr val="0000FF"/>
                </a:solidFill>
              </a:rPr>
              <a:t> come non sempre un </a:t>
            </a:r>
            <a:r>
              <a:rPr lang="en-GB" sz="1800" b="1" dirty="0" err="1">
                <a:solidFill>
                  <a:srgbClr val="0000FF"/>
                </a:solidFill>
              </a:rPr>
              <a:t>filtraggio</a:t>
            </a:r>
            <a:r>
              <a:rPr lang="en-GB" sz="1800" b="1" dirty="0">
                <a:solidFill>
                  <a:srgbClr val="0000FF"/>
                </a:solidFill>
              </a:rPr>
              <a:t> con minor </a:t>
            </a:r>
            <a:r>
              <a:rPr lang="en-GB" sz="1800" b="1" dirty="0" err="1">
                <a:solidFill>
                  <a:srgbClr val="0000FF"/>
                </a:solidFill>
              </a:rPr>
              <a:t>rumore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sia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meglio</a:t>
            </a:r>
            <a:endParaRPr lang="en-GB" sz="1800" b="1" dirty="0">
              <a:solidFill>
                <a:srgbClr val="0000FF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GB" sz="1800" b="1" dirty="0" err="1">
                <a:solidFill>
                  <a:srgbClr val="0000FF"/>
                </a:solidFill>
              </a:rPr>
              <a:t>Modifiche</a:t>
            </a:r>
            <a:r>
              <a:rPr lang="en-GB" sz="1800" b="1" dirty="0">
                <a:solidFill>
                  <a:srgbClr val="0000FF"/>
                </a:solidFill>
              </a:rPr>
              <a:t> </a:t>
            </a:r>
            <a:r>
              <a:rPr lang="en-GB" sz="1800" b="1" dirty="0" err="1">
                <a:solidFill>
                  <a:srgbClr val="0000FF"/>
                </a:solidFill>
              </a:rPr>
              <a:t>apportate</a:t>
            </a:r>
            <a:r>
              <a:rPr lang="en-GB" sz="1800" b="1" dirty="0">
                <a:solidFill>
                  <a:srgbClr val="0000FF"/>
                </a:solidFill>
              </a:rPr>
              <a:t> extra: EMA(</a:t>
            </a:r>
            <a:r>
              <a:rPr lang="it-IT" sz="1800" b="1" dirty="0" err="1">
                <a:solidFill>
                  <a:srgbClr val="0000FF"/>
                </a:solidFill>
              </a:rPr>
              <a:t>Exponential</a:t>
            </a:r>
            <a:r>
              <a:rPr lang="it-IT" sz="1800" b="1" dirty="0">
                <a:solidFill>
                  <a:srgbClr val="0000FF"/>
                </a:solidFill>
              </a:rPr>
              <a:t> </a:t>
            </a:r>
            <a:r>
              <a:rPr lang="it-IT" sz="1800" b="1" dirty="0" err="1">
                <a:solidFill>
                  <a:srgbClr val="0000FF"/>
                </a:solidFill>
              </a:rPr>
              <a:t>Moving</a:t>
            </a:r>
            <a:r>
              <a:rPr lang="it-IT" sz="1800" b="1" dirty="0">
                <a:solidFill>
                  <a:srgbClr val="0000FF"/>
                </a:solidFill>
              </a:rPr>
              <a:t> </a:t>
            </a:r>
            <a:r>
              <a:rPr lang="it-IT" sz="1800" b="1" dirty="0" err="1">
                <a:solidFill>
                  <a:srgbClr val="0000FF"/>
                </a:solidFill>
              </a:rPr>
              <a:t>Average</a:t>
            </a:r>
            <a:r>
              <a:rPr lang="it-IT" sz="1800" b="1" dirty="0">
                <a:solidFill>
                  <a:srgbClr val="0000FF"/>
                </a:solidFill>
              </a:rPr>
              <a:t> )</a:t>
            </a:r>
            <a:endParaRPr lang="en-GB" sz="1800" b="1" dirty="0">
              <a:solidFill>
                <a:srgbClr val="0000FF"/>
              </a:solidFill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B4727C8-5278-15F9-529C-24F94B9EC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75" y="2241783"/>
            <a:ext cx="4742279" cy="335911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5D289940-DF34-BA94-F38C-78E69BC95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857" y="2240874"/>
            <a:ext cx="6537486" cy="332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228844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Props1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F5952B0-BE3F-4397-8C49-DFA106167C99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purl.org/dc/dcmitype/"/>
    <ds:schemaRef ds:uri="be3c09a5-e964-4602-bd74-bbf48e0fabf1"/>
    <ds:schemaRef ds:uri="d81608ca-db68-4891-9f53-9b89cbfff5c6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10702</TotalTime>
  <Words>626</Words>
  <Application>Microsoft Office PowerPoint</Application>
  <PresentationFormat>Widescreen</PresentationFormat>
  <Paragraphs>150</Paragraphs>
  <Slides>19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6" baseType="lpstr">
      <vt:lpstr>Arial</vt:lpstr>
      <vt:lpstr>Comic Sans MS</vt:lpstr>
      <vt:lpstr>NimbusRomNo9L-Regu</vt:lpstr>
      <vt:lpstr>Times New Roman</vt:lpstr>
      <vt:lpstr>Verdana</vt:lpstr>
      <vt:lpstr>Wingdings</vt:lpstr>
      <vt:lpstr>Profile</vt:lpstr>
      <vt:lpstr> Lorenzo Pina 894396, Simone Rancati 900052</vt:lpstr>
      <vt:lpstr>Final Documentation Report for filter_ma DESIGN</vt:lpstr>
      <vt:lpstr>Introduction</vt:lpstr>
      <vt:lpstr>Design of Multiadder</vt:lpstr>
      <vt:lpstr>Design of Multiadder - Testbench</vt:lpstr>
      <vt:lpstr>Design of Accumulator</vt:lpstr>
      <vt:lpstr>Design of Accumulator – Testbench</vt:lpstr>
      <vt:lpstr>Design of Divide_by</vt:lpstr>
      <vt:lpstr>Design of Divide_by - Testbench</vt:lpstr>
      <vt:lpstr>Frequency Response</vt:lpstr>
      <vt:lpstr>Simulation result – NFIFO = 32 (log2NFIFO = 5)</vt:lpstr>
      <vt:lpstr>Simulation result – NFIFO = 64 (log2NFIFO = 6)</vt:lpstr>
      <vt:lpstr>Simulation result – NFIFO = 128 (log2NFIFO = 7)</vt:lpstr>
      <vt:lpstr>Simulation result – NFIFO = 32 (log2NFIFO = 5)</vt:lpstr>
      <vt:lpstr>Simulation result – NFIFO = 64 (log2NFIFO = 6)</vt:lpstr>
      <vt:lpstr>Simulation result – NFIFO = 128 (log2NFIFO = 7)</vt:lpstr>
      <vt:lpstr>Signal to Noise Ratio</vt:lpstr>
      <vt:lpstr>Final Table Resume and Comments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l.pina4@campus.unimib.it</cp:lastModifiedBy>
  <cp:revision>8559</cp:revision>
  <cp:lastPrinted>2022-09-05T12:26:59Z</cp:lastPrinted>
  <dcterms:created xsi:type="dcterms:W3CDTF">2009-04-22T19:24:48Z</dcterms:created>
  <dcterms:modified xsi:type="dcterms:W3CDTF">2026-06-13T14:01:09Z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